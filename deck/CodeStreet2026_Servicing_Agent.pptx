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8BF0"/>
                </a:solidFill>
                <a:latin typeface="Calibri"/>
              </a:rPr>
              <a:t>AMERICAN EXPRESS · CODESTREET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5F7FA"/>
                </a:solidFill>
                <a:latin typeface="Calibri"/>
              </a:rPr>
              <a:t>The End-to-End Servicing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93A0B4"/>
                </a:solidFill>
                <a:latin typeface="Calibri"/>
              </a:rPr>
              <a:t>Resolves fee reversals, credit-limit increases &amp; card replacements in a </a:t>
            </a:r>
            <a:r>
              <a:rPr sz="2000" b="1">
                <a:solidFill>
                  <a:srgbClr val="F5F7FA"/>
                </a:solidFill>
                <a:latin typeface="Calibri"/>
              </a:rPr>
              <a:t>single conversation</a:t>
            </a:r>
            <a:r>
              <a:rPr sz="2000" b="0">
                <a:solidFill>
                  <a:srgbClr val="93A0B4"/>
                </a:solidFill>
                <a:latin typeface="Calibri"/>
              </a:rPr>
              <a:t> — with a </a:t>
            </a:r>
            <a:r>
              <a:rPr sz="2000" b="1">
                <a:solidFill>
                  <a:srgbClr val="F5F7FA"/>
                </a:solidFill>
                <a:latin typeface="Calibri"/>
              </a:rPr>
              <a:t>tamper-evident audit trail</a:t>
            </a:r>
            <a:r>
              <a:rPr sz="2000" b="0">
                <a:solidFill>
                  <a:srgbClr val="93A0B4"/>
                </a:solidFill>
                <a:latin typeface="Calibri"/>
              </a:rPr>
              <a:t> and a human escape hatch.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54880"/>
            <a:ext cx="6766560" cy="18288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3A0B4"/>
                </a:solidFill>
                <a:latin typeface="Calibri"/>
              </a:rPr>
              <a:t>Problem Statement:  </a:t>
            </a:r>
            <a:r>
              <a:rPr sz="1400" b="1">
                <a:solidFill>
                  <a:srgbClr val="F5F7FA"/>
                </a:solidFill>
                <a:latin typeface="Calibri"/>
              </a:rPr>
              <a:t>End-to-End Servicing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3A0B4"/>
                </a:solidFill>
                <a:latin typeface="Calibri"/>
              </a:rPr>
              <a:t>Team:  </a:t>
            </a:r>
            <a:r>
              <a:rPr sz="1400" b="1">
                <a:solidFill>
                  <a:srgbClr val="F5F7FA"/>
                </a:solidFill>
                <a:latin typeface="Calibri"/>
              </a:rPr>
              <a:t>&lt;your team name&gt;</a:t>
            </a:r>
            <a:r>
              <a:rPr sz="1400" b="0">
                <a:solidFill>
                  <a:srgbClr val="93A0B4"/>
                </a:solidFill>
                <a:latin typeface="Calibri"/>
              </a:rPr>
              <a:t>      Members:  </a:t>
            </a:r>
            <a:r>
              <a:rPr sz="1400" b="1">
                <a:solidFill>
                  <a:srgbClr val="F5F7FA"/>
                </a:solidFill>
                <a:latin typeface="Calibri"/>
              </a:rPr>
              <a:t>&lt;names&gt;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Routine servicing is slow, costly, and repetitive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31136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Calibri"/>
              </a:rPr>
              <a:t>Fee reversals, limit increases, and replacement cards are the highest-frequency requests —</a:t>
            </a:r>
            <a:r>
              <a:rPr sz="1700" b="0">
                <a:solidFill>
                  <a:srgbClr val="93A0B4"/>
                </a:solidFill>
                <a:latin typeface="Calibri"/>
              </a:rPr>
              <a:t>  and the most tedious to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08376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9260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Calibri"/>
              </a:rPr>
              <a:t>Members wait on hold, repeat themselves, and get transferred between agents.</a:t>
            </a:r>
            <a:r>
              <a:rPr sz="1700" b="0">
                <a:solidFill>
                  <a:srgbClr val="93A0B4"/>
                </a:solidFill>
                <a:latin typeface="Calibri"/>
              </a:rPr>
              <a:t>  Every touch adds compliance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85615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0332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5F7FA"/>
                </a:solidFill>
                <a:latin typeface="Calibri"/>
              </a:rPr>
              <a:t>Skilled human agents spend their time on routine work</a:t>
            </a:r>
            <a:r>
              <a:rPr sz="1700" b="0">
                <a:solidFill>
                  <a:srgbClr val="93A0B4"/>
                </a:solidFill>
                <a:latin typeface="Calibri"/>
              </a:rPr>
              <a:t>  instead of the complex cases that actually need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92040"/>
            <a:ext cx="10515600" cy="1005840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02920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26D6D"/>
                </a:solidFill>
                <a:latin typeface="Calibri"/>
              </a:rPr>
              <a:t>~$13.50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0B4"/>
                </a:solidFill>
                <a:latin typeface="Calibri"/>
              </a:rPr>
              <a:t>cost per human-assisted 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502920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3FD08A"/>
                </a:solidFill>
                <a:latin typeface="Calibri"/>
              </a:rPr>
              <a:t>~$1.84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A0B4"/>
                </a:solidFill>
                <a:latin typeface="Calibri"/>
              </a:rPr>
              <a:t>cost per self-service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138928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F7FA"/>
                </a:solidFill>
                <a:latin typeface="Calibri"/>
              </a:rPr>
              <a:t>The opportunity: </a:t>
            </a:r>
            <a:r>
              <a:rPr sz="1400" b="0">
                <a:solidFill>
                  <a:srgbClr val="93A0B4"/>
                </a:solidFill>
                <a:latin typeface="Calibri"/>
              </a:rPr>
              <a:t>resolve the routine autonomously — safely — and free humans for the hard cases.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An agent that resolves the request — not just talks about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83280" cy="265176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3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606040"/>
            <a:ext cx="502920" cy="109728"/>
          </a:xfrm>
          <a:prstGeom prst="rect">
            <a:avLst/>
          </a:prstGeom>
          <a:solidFill>
            <a:srgbClr val="3FD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F7FA"/>
                </a:solidFill>
                <a:latin typeface="Calibri"/>
              </a:rPr>
              <a:t>Resolves end-to-end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2044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3A0B4"/>
                </a:solidFill>
                <a:latin typeface="Calibri"/>
              </a:rPr>
              <a:t>Executes the actual fee waiver, limit change, or card order — start to finish, in one interaction.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265176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606040"/>
            <a:ext cx="502920" cy="109728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F7FA"/>
                </a:solidFill>
                <a:latin typeface="Calibri"/>
              </a:rPr>
              <a:t>Provably 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2044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3A0B4"/>
                </a:solidFill>
                <a:latin typeface="Calibri"/>
              </a:rPr>
              <a:t>Every decision &amp; action is written to a hash-chained, tamper-evident audit trail — immutable by construction.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265176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F2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2606040"/>
            <a:ext cx="502920" cy="109728"/>
          </a:xfrm>
          <a:prstGeom prst="rect">
            <a:avLst/>
          </a:prstGeom>
          <a:solidFill>
            <a:srgbClr val="F2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83464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F7FA"/>
                </a:solidFill>
                <a:latin typeface="Calibri"/>
              </a:rPr>
              <a:t>Escalates gracefully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2044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3A0B4"/>
                </a:solidFill>
                <a:latin typeface="Calibri"/>
              </a:rPr>
              <a:t>When policy limits or low confidence are hit, hands off to a human with full context — no repeating.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F7FA"/>
                </a:solidFill>
                <a:latin typeface="Calibri"/>
              </a:rPr>
              <a:t>Single interaction.  </a:t>
            </a:r>
            <a:r>
              <a:rPr sz="1800" b="1">
                <a:solidFill>
                  <a:srgbClr val="2E8BF0"/>
                </a:solidFill>
                <a:latin typeface="Calibri"/>
              </a:rPr>
              <a:t>Real actions.  </a:t>
            </a:r>
            <a:r>
              <a:rPr sz="1800" b="1">
                <a:solidFill>
                  <a:srgbClr val="F5F7FA"/>
                </a:solidFill>
                <a:latin typeface="Calibri"/>
              </a:rPr>
              <a:t>Complete traceability.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One request → classify → policy → act — every step logged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82880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93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Member request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80720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2651760"/>
            <a:ext cx="214884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Intent classifier
(confidence)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32120" y="280720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2651760"/>
            <a:ext cx="182880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F2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Policy gate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01000" y="280720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49640" y="2651760"/>
            <a:ext cx="274320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3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Resolve &amp; execute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703320"/>
            <a:ext cx="274320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Escalate w/ full context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720840" y="3218688"/>
            <a:ext cx="256032" cy="457200"/>
          </a:xfrm>
          <a:prstGeom prst="downArrow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749039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6D6D"/>
                </a:solidFill>
                <a:latin typeface="Calibri"/>
              </a:rPr>
              <a:t>over cap /
low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0469880" cy="685800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365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8BF0"/>
                </a:solidFill>
                <a:latin typeface="Calibri"/>
              </a:rPr>
              <a:t>⛓  Hash-chained audit trail  </a:t>
            </a:r>
            <a:r>
              <a:rPr sz="1300" b="0">
                <a:solidFill>
                  <a:srgbClr val="93A0B4"/>
                </a:solidFill>
                <a:latin typeface="Calibri"/>
              </a:rPr>
              <a:t>— classifier · policy · backend · agent : every decision sealed in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Confidence below threshold, or an amount over policy caps, routes to a human instead of a guess.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DIFFERENTIATOR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Tamper-evident audit trail — trust by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76856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94560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Every decision, policy check &amp; backend call is hash-chained (SHA-256)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each entry seals the one before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18103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35808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Edit any past entry and every downstream hash breaks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we catch it live in the demo (verify flips to ‘broken @ seq N’).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59352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77056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Complete chain-of-custody, not sampling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the difference between ‘we think’ and ‘we can prove’.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800600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718304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Maps to model-risk (SR 11-7) &amp; adverse-action explainability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audit-ready by design.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286000"/>
            <a:ext cx="3291840" cy="65836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3774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#0 request</a:t>
            </a:r>
            <a:r>
              <a:rPr sz="1000" b="0">
                <a:solidFill>
                  <a:srgbClr val="93A0B4"/>
                </a:solidFill>
                <a:latin typeface="Calibri"/>
              </a:rPr>
              <a:t>   hash◄prev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144000" y="2944368"/>
            <a:ext cx="182880" cy="201168"/>
          </a:xfrm>
          <a:prstGeom prst="down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3154680"/>
            <a:ext cx="3291840" cy="65836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F2B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246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#1 policy</a:t>
            </a:r>
            <a:r>
              <a:rPr sz="1000" b="0">
                <a:solidFill>
                  <a:srgbClr val="93A0B4"/>
                </a:solidFill>
                <a:latin typeface="Calibri"/>
              </a:rPr>
              <a:t>   hash◄prev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144000" y="3813048"/>
            <a:ext cx="182880" cy="201168"/>
          </a:xfrm>
          <a:prstGeom prst="down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4023360"/>
            <a:ext cx="3291840" cy="65836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3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1148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#2 backend</a:t>
            </a:r>
            <a:r>
              <a:rPr sz="1000" b="0">
                <a:solidFill>
                  <a:srgbClr val="93A0B4"/>
                </a:solidFill>
                <a:latin typeface="Calibri"/>
              </a:rPr>
              <a:t>   hash◄prev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144000" y="4681728"/>
            <a:ext cx="182880" cy="201168"/>
          </a:xfrm>
          <a:prstGeom prst="down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4892040"/>
            <a:ext cx="3291840" cy="65836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98347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#3 agent</a:t>
            </a:r>
            <a:r>
              <a:rPr sz="1000" b="0">
                <a:solidFill>
                  <a:srgbClr val="93A0B4"/>
                </a:solidFill>
                <a:latin typeface="Calibri"/>
              </a:rPr>
              <a:t>   hash◄prev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68BF0"/>
                </a:solidFill>
                <a:latin typeface="Calibri"/>
              </a:rPr>
              <a:t>DIFFERENTIATOR 2 · BEYOND 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Servicing cases that can’t be left half-done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31136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Every high-stakes request becomes a durable Temporal workflow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it survives crashes and resumes exactly where it stopped.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72384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990088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Saga with automatic compensation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if a step fails, completed steps roll back in reverse. Never partial.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13632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31336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Durable human-in-the-loop approval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over-policy cases wait on an underwriter for as long as it takes.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672584"/>
            <a:ext cx="64922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5F7FA"/>
                </a:solidFill>
                <a:latin typeface="Calibri"/>
              </a:rPr>
              <a:t>Live status + replayable event history</a:t>
            </a:r>
            <a:r>
              <a:rPr sz="1550" b="0">
                <a:solidFill>
                  <a:srgbClr val="93A0B4"/>
                </a:solidFill>
                <a:latin typeface="Calibri"/>
              </a:rPr>
              <a:t>  — queryable in real time; the log is itself an audit.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194560"/>
            <a:ext cx="3291840" cy="342900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3774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A68BF0"/>
                </a:solidFill>
                <a:latin typeface="Calibri"/>
              </a:rPr>
              <a:t>Card replacement saga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8346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FD08A"/>
                </a:solidFill>
                <a:latin typeface="Calibri"/>
              </a:rPr>
              <a:t>✓ block old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2918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FD08A"/>
                </a:solidFill>
                <a:latin typeface="Calibri"/>
              </a:rPr>
              <a:t>✓ charge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7490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6D6D"/>
                </a:solidFill>
                <a:latin typeface="Calibri"/>
              </a:rPr>
              <a:t>✗ order fulfillment —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206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04B"/>
                </a:solidFill>
                <a:latin typeface="Calibri"/>
              </a:rPr>
              <a:t>↩ refund fee (compensate)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46634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B04B"/>
                </a:solidFill>
                <a:latin typeface="Calibri"/>
              </a:rPr>
              <a:t>↩ unblock card (compensate)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1206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8BF0"/>
                </a:solidFill>
                <a:latin typeface="Calibri"/>
              </a:rPr>
              <a:t>= rolled back · consistent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Measured, not asserted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solidFill>
            <a:srgbClr val="006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212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2128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How it’s graded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06040"/>
            <a:ext cx="10515600" cy="566928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249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Intent classification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7249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FD08A"/>
                </a:solidFill>
                <a:latin typeface="Calibri"/>
              </a:rPr>
              <a:t>90% baseline → 95%+ w/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7249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labeled eval set (deterministic)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172968"/>
            <a:ext cx="10515600" cy="5669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First-contact resolution (in-scope)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FD08A"/>
                </a:solidFill>
                <a:latin typeface="Calibri"/>
              </a:rPr>
              <a:t>measured per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291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outcome check (deterministic)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739896"/>
            <a:ext cx="10515600" cy="566928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Policy violations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858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8BF0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8587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never auto-approve over cap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306824"/>
            <a:ext cx="10515600" cy="566928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2569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Audit completeness &amp; integrity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4256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8BF0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4256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chain verification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873752"/>
            <a:ext cx="10515600" cy="566928"/>
          </a:xfrm>
          <a:prstGeom prst="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9262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F7FA"/>
                </a:solidFill>
                <a:latin typeface="Calibri"/>
              </a:rPr>
              <a:t>Response clarity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992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93A0B4"/>
                </a:solidFill>
                <a:latin typeface="Calibri"/>
              </a:rPr>
              <a:t>LLM-judge rubric (1–5)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9926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F7FA"/>
                </a:solidFill>
                <a:latin typeface="Calibri"/>
              </a:rPr>
              <a:t>We report TRUE resolution + escalation rate — not just deflection. </a:t>
            </a:r>
            <a:r>
              <a:rPr sz="1300" b="0">
                <a:solidFill>
                  <a:srgbClr val="93A0B4"/>
                </a:solidFill>
                <a:latin typeface="Calibri"/>
              </a:rPr>
              <a:t>Financial-services deflection is realistically 25–45%; finance teams target &lt;1% error, because one wrong answer is a compliance event.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WHY AMEX ·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The governance layer that makes autonomy deployable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76856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94560"/>
            <a:ext cx="10424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5F7FA"/>
                </a:solidFill>
                <a:latin typeface="Calibri"/>
              </a:rPr>
              <a:t>Amex’s 2026 direction is agentic commerce — agents that decide and act.</a:t>
            </a:r>
            <a:r>
              <a:rPr sz="1650" b="0">
                <a:solidFill>
                  <a:srgbClr val="93A0B4"/>
                </a:solidFill>
                <a:latin typeface="Calibri"/>
              </a:rPr>
              <a:t>  This is exactly that, applied to servicing.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18103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35808"/>
            <a:ext cx="10424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5F7FA"/>
                </a:solidFill>
                <a:latin typeface="Calibri"/>
              </a:rPr>
              <a:t>~80% of financial institutions lack mature agentic-AI governance,</a:t>
            </a:r>
            <a:r>
              <a:rPr sz="1650" b="0">
                <a:solidFill>
                  <a:srgbClr val="93A0B4"/>
                </a:solidFill>
                <a:latin typeface="Calibri"/>
              </a:rPr>
              <a:t>  yet most expect heavy agent use by 2027 (Deloitte).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59352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77056"/>
            <a:ext cx="10424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5F7FA"/>
                </a:solidFill>
                <a:latin typeface="Calibri"/>
              </a:rPr>
              <a:t>Our audit trail + durable compensating workflows are the prerequisites for safe autonomy —</a:t>
            </a:r>
            <a:r>
              <a:rPr sz="1650" b="0">
                <a:solidFill>
                  <a:srgbClr val="93A0B4"/>
                </a:solidFill>
                <a:latin typeface="Calibri"/>
              </a:rPr>
              <a:t>  ‘human oversight’ and ‘responsible use’ built in, not bolted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10515600" cy="960120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9379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5F7FA"/>
                </a:solidFill>
                <a:latin typeface="Calibri"/>
              </a:rPr>
              <a:t>“With every use case, we’ve ensured there is human oversight.”</a:t>
            </a:r>
            <a:r>
              <a:rPr sz="1300" b="0">
                <a:solidFill>
                  <a:srgbClr val="93A0B4"/>
                </a:solidFill>
                <a:latin typeface="Calibri"/>
              </a:rPr>
              <a:t>   — Amex CIO, on responsible AI. We make that oversight provable and scalable.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Built to be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201168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Next.js UI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26080" y="248716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2331720"/>
            <a:ext cx="182880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FastAPI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94960" y="248716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0" y="2331720"/>
            <a:ext cx="539496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LangGraph agent: classifier · policy · flows ·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520440"/>
            <a:ext cx="237744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Temporal server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91840" y="3675887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40480" y="3520440"/>
            <a:ext cx="155448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Worker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486400" y="3675887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3520440"/>
            <a:ext cx="530352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A6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ServicingCaseWorkflow → saga · compensation ·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310896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2E8B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Audit chain → /graph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431596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4160520"/>
            <a:ext cx="274320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3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Neo4j Aura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06640" y="4315968"/>
            <a:ext cx="457200" cy="256032"/>
          </a:xfrm>
          <a:prstGeom prst="rightArrow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4160520"/>
            <a:ext cx="3383280" cy="566928"/>
          </a:xfrm>
          <a:prstGeom prst="roundRect">
            <a:avLst/>
          </a:prstGeom>
          <a:solidFill>
            <a:srgbClr val="141C30"/>
          </a:solidFill>
          <a:ln w="15875">
            <a:solidFill>
              <a:srgbClr val="3FD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5F7FA"/>
                </a:solidFill>
                <a:latin typeface="Calibri"/>
              </a:rPr>
              <a:t>Cytoscape analyst 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92040"/>
            <a:ext cx="10515600" cy="868680"/>
          </a:xfrm>
          <a:prstGeom prst="roundRect">
            <a:avLst/>
          </a:prstGeom>
          <a:solidFill>
            <a:srgbClr val="14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Stack   </a:t>
            </a:r>
            <a:r>
              <a:rPr sz="1250" b="0">
                <a:solidFill>
                  <a:srgbClr val="F5F7FA"/>
                </a:solidFill>
                <a:latin typeface="Calibri"/>
              </a:rPr>
              <a:t>Python · FastAPI · LangGraph · Gemini · Temporal · Neo4j · Next.js · Cytoscape · SHA-256 hash-chain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303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3A0B4"/>
                </a:solidFill>
                <a:latin typeface="Calibri"/>
              </a:rPr>
              <a:t>Core-banking is mocked today; each call swaps to a real Amex API with no change to the agent logic.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E8BF0"/>
                </a:solidFill>
                <a:latin typeface="Calibri"/>
              </a:rPr>
              <a:t>WHAT’S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841248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5F7FA"/>
                </a:solidFill>
                <a:latin typeface="Calibri"/>
              </a:rPr>
              <a:t>From prototype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76856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194560"/>
            <a:ext cx="10424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5F7FA"/>
                </a:solidFill>
                <a:latin typeface="Calibri"/>
              </a:rPr>
              <a:t>Round 2: integrate real servicing APIs, add voice, expand intents,</a:t>
            </a:r>
            <a:r>
              <a:rPr sz="1650" b="0">
                <a:solidFill>
                  <a:srgbClr val="93A0B4"/>
                </a:solidFill>
                <a:latin typeface="Calibri"/>
              </a:rPr>
              <a:t>  and add an LLM-judge clarity 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18103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35808"/>
            <a:ext cx="10424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5F7FA"/>
                </a:solidFill>
                <a:latin typeface="Calibri"/>
              </a:rPr>
              <a:t>Production audit store: append-only, write-once storage behind the same hash-chain</a:t>
            </a:r>
            <a:r>
              <a:rPr sz="1650" b="0">
                <a:solidFill>
                  <a:srgbClr val="93A0B4"/>
                </a:solidFill>
                <a:latin typeface="Calibri"/>
              </a:rPr>
              <a:t>  — exportable for auditors.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59352"/>
            <a:ext cx="109728" cy="109728"/>
          </a:xfrm>
          <a:prstGeom prst="roundRect">
            <a:avLst/>
          </a:prstGeom>
          <a:solidFill>
            <a:srgbClr val="2E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877056"/>
            <a:ext cx="10424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5F7FA"/>
                </a:solidFill>
                <a:latin typeface="Calibri"/>
              </a:rPr>
              <a:t>Guardrails &amp; governance: per-action risk tiers, kill-switch, policy versioning</a:t>
            </a:r>
            <a:r>
              <a:rPr sz="1650" b="0">
                <a:solidFill>
                  <a:srgbClr val="93A0B4"/>
                </a:solidFill>
                <a:latin typeface="Calibri"/>
              </a:rPr>
              <a:t>  — the governance substrate for Amex agents.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29200"/>
            <a:ext cx="10515600" cy="960120"/>
          </a:xfrm>
          <a:prstGeom prst="roundRect">
            <a:avLst/>
          </a:prstGeom>
          <a:solidFill>
            <a:srgbClr val="006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303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F7FA"/>
                </a:solidFill>
                <a:latin typeface="Calibri"/>
              </a:rPr>
              <a:t>The ask:  </a:t>
            </a:r>
            <a:r>
              <a:rPr sz="1700" b="0">
                <a:solidFill>
                  <a:srgbClr val="F5F7FA"/>
                </a:solidFill>
                <a:latin typeface="Calibri"/>
              </a:rPr>
              <a:t>advance us to the prototype round — the core already works end-to-end.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End-to-End Servicing Agent · CodeStreet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3A0B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