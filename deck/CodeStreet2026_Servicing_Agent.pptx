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16FD0"/>
                </a:solidFill>
                <a:latin typeface="Calibri"/>
              </a:rPr>
              <a:t>AMERICAN EXPRESS · CODESTREET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106070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600" b="1">
                <a:solidFill>
                  <a:srgbClr val="0F172A"/>
                </a:solidFill>
                <a:latin typeface="Calibri"/>
              </a:rPr>
              <a:t>The End-to-End Servicing 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00400"/>
            <a:ext cx="102412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0">
                <a:solidFill>
                  <a:srgbClr val="5B6673"/>
                </a:solidFill>
                <a:latin typeface="Calibri"/>
              </a:rPr>
              <a:t>Resolves fee reversals, credit-limit increases &amp; card replacements in a </a:t>
            </a:r>
            <a:r>
              <a:rPr sz="2000" b="1">
                <a:solidFill>
                  <a:srgbClr val="0F172A"/>
                </a:solidFill>
                <a:latin typeface="Calibri"/>
              </a:rPr>
              <a:t>single conversation</a:t>
            </a:r>
            <a:r>
              <a:rPr sz="2000" b="0">
                <a:solidFill>
                  <a:srgbClr val="5B6673"/>
                </a:solidFill>
                <a:latin typeface="Calibri"/>
              </a:rPr>
              <a:t> — with a </a:t>
            </a:r>
            <a:r>
              <a:rPr sz="2000" b="1">
                <a:solidFill>
                  <a:srgbClr val="0F172A"/>
                </a:solidFill>
                <a:latin typeface="Calibri"/>
              </a:rPr>
              <a:t>tamper-evident audit trail</a:t>
            </a:r>
            <a:r>
              <a:rPr sz="2000" b="0">
                <a:solidFill>
                  <a:srgbClr val="5B6673"/>
                </a:solidFill>
                <a:latin typeface="Calibri"/>
              </a:rPr>
              <a:t> and a human escape hatch.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4754880"/>
            <a:ext cx="6766560" cy="18288"/>
          </a:xfrm>
          <a:prstGeom prst="rect">
            <a:avLst/>
          </a:prstGeom>
          <a:solidFill>
            <a:srgbClr val="E9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9834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5B6673"/>
                </a:solidFill>
                <a:latin typeface="Calibri"/>
              </a:rPr>
              <a:t>Problem Statement:  </a:t>
            </a:r>
            <a:r>
              <a:rPr sz="1400" b="1">
                <a:solidFill>
                  <a:srgbClr val="0F172A"/>
                </a:solidFill>
                <a:latin typeface="Calibri"/>
              </a:rPr>
              <a:t>End-to-End Servicing Agent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4406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5B6673"/>
                </a:solidFill>
                <a:latin typeface="Calibri"/>
              </a:rPr>
              <a:t>Team:  </a:t>
            </a:r>
            <a:r>
              <a:rPr sz="1400" b="1">
                <a:solidFill>
                  <a:srgbClr val="0F172A"/>
                </a:solidFill>
                <a:latin typeface="Calibri"/>
              </a:rPr>
              <a:t>&lt;your team name&gt;</a:t>
            </a:r>
            <a:r>
              <a:rPr sz="1400" b="0">
                <a:solidFill>
                  <a:srgbClr val="5B6673"/>
                </a:solidFill>
                <a:latin typeface="Calibri"/>
              </a:rPr>
              <a:t>      Members:  </a:t>
            </a:r>
            <a:r>
              <a:rPr sz="1400" b="1">
                <a:solidFill>
                  <a:srgbClr val="0F172A"/>
                </a:solidFill>
                <a:latin typeface="Calibri"/>
              </a:rPr>
              <a:t>&lt;names&gt;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16FD0"/>
                </a:solidFill>
                <a:latin typeface="Calibri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841248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0F172A"/>
                </a:solidFill>
                <a:latin typeface="Calibri"/>
              </a:rPr>
              <a:t>Routine servicing is slow, costly, and repetitive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231136"/>
            <a:ext cx="109728" cy="109728"/>
          </a:xfrm>
          <a:prstGeom prst="round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2148840"/>
            <a:ext cx="104241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0F172A"/>
                </a:solidFill>
                <a:latin typeface="Calibri"/>
              </a:rPr>
              <a:t>Fee reversals, limit increases, and replacement cards are the highest-frequency requests —</a:t>
            </a:r>
            <a:r>
              <a:rPr sz="1700" b="0">
                <a:solidFill>
                  <a:srgbClr val="5B6673"/>
                </a:solidFill>
                <a:latin typeface="Calibri"/>
              </a:rPr>
              <a:t>  and the most tedious to service.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008376"/>
            <a:ext cx="109728" cy="109728"/>
          </a:xfrm>
          <a:prstGeom prst="round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15568" y="2926080"/>
            <a:ext cx="104241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0F172A"/>
                </a:solidFill>
                <a:latin typeface="Calibri"/>
              </a:rPr>
              <a:t>Members wait on hold, repeat themselves, and get transferred between agents.</a:t>
            </a:r>
            <a:r>
              <a:rPr sz="1700" b="0">
                <a:solidFill>
                  <a:srgbClr val="5B6673"/>
                </a:solidFill>
                <a:latin typeface="Calibri"/>
              </a:rPr>
              <a:t>  Every touch adds compliance overhead.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785615"/>
            <a:ext cx="109728" cy="109728"/>
          </a:xfrm>
          <a:prstGeom prst="round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" y="3703320"/>
            <a:ext cx="104241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0F172A"/>
                </a:solidFill>
                <a:latin typeface="Calibri"/>
              </a:rPr>
              <a:t>Skilled human agents spend their time on routine work</a:t>
            </a:r>
            <a:r>
              <a:rPr sz="1700" b="0">
                <a:solidFill>
                  <a:srgbClr val="5B6673"/>
                </a:solidFill>
                <a:latin typeface="Calibri"/>
              </a:rPr>
              <a:t>  instead of the complex cases that actually need them.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4892040"/>
            <a:ext cx="10515600" cy="1005840"/>
          </a:xfrm>
          <a:prstGeom prst="roundRect">
            <a:avLst/>
          </a:prstGeom>
          <a:solidFill>
            <a:srgbClr val="E9F0F9"/>
          </a:solidFill>
          <a:ln w="15875">
            <a:solidFill>
              <a:srgbClr val="016F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5029200"/>
            <a:ext cx="47548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C0362C"/>
                </a:solidFill>
                <a:latin typeface="Calibri"/>
              </a:rPr>
              <a:t>~$13.50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B6673"/>
                </a:solidFill>
                <a:latin typeface="Calibri"/>
              </a:rPr>
              <a:t>cost per human-assisted contact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5029200"/>
            <a:ext cx="3657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059669"/>
                </a:solidFill>
                <a:latin typeface="Calibri"/>
              </a:rPr>
              <a:t>~$1.84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B6673"/>
                </a:solidFill>
                <a:latin typeface="Calibri"/>
              </a:rPr>
              <a:t>cost per self-service contact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5138928"/>
            <a:ext cx="38404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0F172A"/>
                </a:solidFill>
                <a:latin typeface="Calibri"/>
              </a:rPr>
              <a:t>The opportunity: </a:t>
            </a:r>
            <a:r>
              <a:rPr sz="1400" b="0">
                <a:solidFill>
                  <a:srgbClr val="5B6673"/>
                </a:solidFill>
                <a:latin typeface="Calibri"/>
              </a:rPr>
              <a:t>resolve the routine autonomously — safely — and free humans for the hard cases.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End-to-End Servicing Agent · CodeStreet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16FD0"/>
                </a:solidFill>
                <a:latin typeface="Calibri"/>
              </a:rPr>
              <a:t>OUR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841248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0F172A"/>
                </a:solidFill>
                <a:latin typeface="Calibri"/>
              </a:rPr>
              <a:t>An agent that resolves the request — not just talks about 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83280" cy="2651760"/>
          </a:xfrm>
          <a:prstGeom prst="roundRect">
            <a:avLst/>
          </a:prstGeom>
          <a:solidFill>
            <a:srgbClr val="E9F0F9"/>
          </a:solidFill>
          <a:ln w="1905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606040"/>
            <a:ext cx="502920" cy="109728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34640"/>
            <a:ext cx="2834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Resolves end-to-end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520440"/>
            <a:ext cx="28346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5B6673"/>
                </a:solidFill>
                <a:latin typeface="Calibri"/>
              </a:rPr>
              <a:t>Executes the actual fee waiver, limit change, or card order — start to finish, in one interaction.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2286000"/>
            <a:ext cx="3383280" cy="2651760"/>
          </a:xfrm>
          <a:prstGeom prst="roundRect">
            <a:avLst/>
          </a:prstGeom>
          <a:solidFill>
            <a:srgbClr val="E9F0F9"/>
          </a:solidFill>
          <a:ln w="19050">
            <a:solidFill>
              <a:srgbClr val="016F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0" y="2606040"/>
            <a:ext cx="502920" cy="109728"/>
          </a:xfrm>
          <a:prstGeom prst="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0" y="2834640"/>
            <a:ext cx="2834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Provably auditable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3520440"/>
            <a:ext cx="28346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5B6673"/>
                </a:solidFill>
                <a:latin typeface="Calibri"/>
              </a:rPr>
              <a:t>Every decision &amp; action is written to a hash-chained, tamper-evident audit trail — immutable by construction.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2286000"/>
            <a:ext cx="3383280" cy="2651760"/>
          </a:xfrm>
          <a:prstGeom prst="roundRect">
            <a:avLst/>
          </a:prstGeom>
          <a:solidFill>
            <a:srgbClr val="E9F0F9"/>
          </a:solidFill>
          <a:ln w="1905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366760" y="2606040"/>
            <a:ext cx="502920" cy="109728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66760" y="2834640"/>
            <a:ext cx="2834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Escalates gracefully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3520440"/>
            <a:ext cx="28346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5B6673"/>
                </a:solidFill>
                <a:latin typeface="Calibri"/>
              </a:rPr>
              <a:t>When policy limits or low confidence are hit, hands off to a human with full context — no repeating.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52120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Single interaction.  </a:t>
            </a:r>
            <a:r>
              <a:rPr sz="1800" b="1">
                <a:solidFill>
                  <a:srgbClr val="016FD0"/>
                </a:solidFill>
                <a:latin typeface="Calibri"/>
              </a:rPr>
              <a:t>Real actions.  </a:t>
            </a:r>
            <a:r>
              <a:rPr sz="1800" b="1">
                <a:solidFill>
                  <a:srgbClr val="0F172A"/>
                </a:solidFill>
                <a:latin typeface="Calibri"/>
              </a:rPr>
              <a:t>Complete traceability.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80644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016FD0"/>
                </a:solidFill>
                <a:latin typeface="Calibri"/>
              </a:rPr>
              <a:t>Plus  </a:t>
            </a:r>
            <a:r>
              <a:rPr sz="1250" b="0">
                <a:solidFill>
                  <a:srgbClr val="5B6673"/>
                </a:solidFill>
                <a:latin typeface="Calibri"/>
              </a:rPr>
              <a:t>multi-turn follow-ups (slot-filling) · voice input · safe out-of-scope handling (answer / escalate / clarify)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End-to-End Servicing Agent · CodeStreet 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16FD0"/>
                </a:solidFill>
                <a:latin typeface="Calibri"/>
              </a:rPr>
              <a:t>THE PRODUCT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841248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0F172A"/>
                </a:solidFill>
                <a:latin typeface="Calibri"/>
              </a:rPr>
              <a:t>One console — chat, durable cases &amp; the audit trail</a:t>
            </a:r>
          </a:p>
        </p:txBody>
      </p:sp>
      <p:pic>
        <p:nvPicPr>
          <p:cNvPr id="6" name="Picture 5" descr="ui_m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874519"/>
            <a:ext cx="6858000" cy="42862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75320" y="1965960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02663"/>
                </a:solidFill>
                <a:latin typeface="Calibri"/>
              </a:rPr>
              <a:t>What you’re seeing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01000" y="2551176"/>
            <a:ext cx="109728" cy="109728"/>
          </a:xfrm>
          <a:prstGeom prst="round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75320" y="2514600"/>
            <a:ext cx="3063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0F172A"/>
                </a:solidFill>
                <a:latin typeface="Calibri"/>
              </a:rPr>
              <a:t>Policy citation in every reply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B6673"/>
                </a:solidFill>
                <a:latin typeface="Calibri"/>
              </a:rPr>
              <a:t>“auto-approved under FEE-AUTO v1.2”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1000" y="3392424"/>
            <a:ext cx="109728" cy="109728"/>
          </a:xfrm>
          <a:prstGeom prst="round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75320" y="3355848"/>
            <a:ext cx="3063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0F172A"/>
                </a:solidFill>
                <a:latin typeface="Calibri"/>
              </a:rPr>
              <a:t>Counterfactual on escalation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B6673"/>
                </a:solidFill>
                <a:latin typeface="Calibri"/>
              </a:rPr>
              <a:t>“I can auto-approve up to $13,000 now”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01000" y="4233672"/>
            <a:ext cx="109728" cy="109728"/>
          </a:xfrm>
          <a:prstGeom prst="round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5320" y="4197096"/>
            <a:ext cx="3063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0F172A"/>
                </a:solidFill>
                <a:latin typeface="Calibri"/>
              </a:rPr>
              <a:t>Escalation with full handoff context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B6673"/>
                </a:solidFill>
                <a:latin typeface="Calibri"/>
              </a:rPr>
              <a:t>the specialist gets everything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01000" y="5074920"/>
            <a:ext cx="109728" cy="109728"/>
          </a:xfrm>
          <a:prstGeom prst="roundRect">
            <a:avLst/>
          </a:prstGeom>
          <a:solidFill>
            <a:srgbClr val="6D4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5320" y="5038344"/>
            <a:ext cx="3063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0F172A"/>
                </a:solidFill>
                <a:latin typeface="Calibri"/>
              </a:rPr>
              <a:t>Durable cases + live audit / graph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B6673"/>
                </a:solidFill>
                <a:latin typeface="Calibri"/>
              </a:rPr>
              <a:t>one screen, in real time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5320" y="594360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B6673"/>
                </a:solidFill>
                <a:latin typeface="Calibri"/>
              </a:rPr>
              <a:t>Live capture of the running app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End-to-End Servicing Agent · CodeStreet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16FD0"/>
                </a:solidFill>
                <a:latin typeface="Calibri"/>
              </a:rPr>
              <a:t>HOW A REQUEST IS DECIDED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841248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0F172A"/>
                </a:solidFill>
                <a:latin typeface="Calibri"/>
              </a:rPr>
              <a:t>The LLM proposes — a versioned engine decides and cites the rule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468880"/>
            <a:ext cx="1554480" cy="566928"/>
          </a:xfrm>
          <a:prstGeom prst="roundRect">
            <a:avLst/>
          </a:prstGeom>
          <a:solidFill>
            <a:srgbClr val="E9F0F9"/>
          </a:solidFill>
          <a:ln w="15875">
            <a:solidFill>
              <a:srgbClr val="5B66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  <a:latin typeface="Calibri"/>
              </a:rPr>
              <a:t>Request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88920" y="2468880"/>
            <a:ext cx="1828800" cy="566928"/>
          </a:xfrm>
          <a:prstGeom prst="roundRect">
            <a:avLst/>
          </a:prstGeom>
          <a:solidFill>
            <a:srgbClr val="E9F0F9"/>
          </a:solidFill>
          <a:ln w="15875">
            <a:solidFill>
              <a:srgbClr val="6D4F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  <a:latin typeface="Calibri"/>
              </a:rPr>
              <a:t>Classifier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88920" y="3072384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B6673"/>
                </a:solidFill>
                <a:latin typeface="Calibri"/>
              </a:rPr>
              <a:t>LLM proposes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74920" y="2468880"/>
            <a:ext cx="2286000" cy="566928"/>
          </a:xfrm>
          <a:prstGeom prst="roundRect">
            <a:avLst/>
          </a:prstGeom>
          <a:solidFill>
            <a:srgbClr val="E9F0F9"/>
          </a:solidFill>
          <a:ln w="15875">
            <a:solidFill>
              <a:srgbClr val="016F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  <a:latin typeface="Calibri"/>
              </a:rPr>
              <a:t>Policy-as-Code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3072384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B6673"/>
                </a:solidFill>
                <a:latin typeface="Calibri"/>
              </a:rPr>
              <a:t>decides · cites rule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18120" y="2468880"/>
            <a:ext cx="1554480" cy="566928"/>
          </a:xfrm>
          <a:prstGeom prst="roundRect">
            <a:avLst/>
          </a:prstGeom>
          <a:solidFill>
            <a:srgbClr val="E9F0F9"/>
          </a:solidFill>
          <a:ln w="15875">
            <a:solidFill>
              <a:srgbClr val="6D4F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  <a:latin typeface="Calibri"/>
              </a:rPr>
              <a:t>Verify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18120" y="3072384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B6673"/>
                </a:solidFill>
                <a:latin typeface="Calibri"/>
              </a:rPr>
              <a:t>risk-based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829800" y="2468880"/>
            <a:ext cx="1508760" cy="566928"/>
          </a:xfrm>
          <a:prstGeom prst="roundRect">
            <a:avLst/>
          </a:prstGeom>
          <a:solidFill>
            <a:srgbClr val="E9F0F9"/>
          </a:solidFill>
          <a:ln w="15875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  <a:latin typeface="Calibri"/>
              </a:rPr>
              <a:t>Execute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2377440" y="2624328"/>
            <a:ext cx="365760" cy="256032"/>
          </a:xfrm>
          <a:prstGeom prst="rightArrow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ight Arrow 14"/>
          <p:cNvSpPr/>
          <p:nvPr/>
        </p:nvSpPr>
        <p:spPr>
          <a:xfrm>
            <a:off x="4663440" y="2624328"/>
            <a:ext cx="365760" cy="256032"/>
          </a:xfrm>
          <a:prstGeom prst="rightArrow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ight Arrow 15"/>
          <p:cNvSpPr/>
          <p:nvPr/>
        </p:nvSpPr>
        <p:spPr>
          <a:xfrm>
            <a:off x="7406640" y="2624328"/>
            <a:ext cx="365760" cy="256032"/>
          </a:xfrm>
          <a:prstGeom prst="rightArrow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ight Arrow 16"/>
          <p:cNvSpPr/>
          <p:nvPr/>
        </p:nvSpPr>
        <p:spPr>
          <a:xfrm>
            <a:off x="9418320" y="2624328"/>
            <a:ext cx="365760" cy="256032"/>
          </a:xfrm>
          <a:prstGeom prst="rightArrow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own Arrow 17"/>
          <p:cNvSpPr/>
          <p:nvPr/>
        </p:nvSpPr>
        <p:spPr>
          <a:xfrm>
            <a:off x="8503920" y="3337560"/>
            <a:ext cx="256032" cy="411480"/>
          </a:xfrm>
          <a:prstGeom prst="downArrow">
            <a:avLst/>
          </a:prstGeom>
          <a:solidFill>
            <a:srgbClr val="C036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818120" y="3840480"/>
            <a:ext cx="3520440" cy="566928"/>
          </a:xfrm>
          <a:prstGeom prst="roundRect">
            <a:avLst/>
          </a:prstGeom>
          <a:solidFill>
            <a:srgbClr val="E9F0F9"/>
          </a:solidFill>
          <a:ln w="15875">
            <a:solidFill>
              <a:srgbClr val="C036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  <a:latin typeface="Calibri"/>
              </a:rPr>
              <a:t>Escalate — with counterfactual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0" y="3913632"/>
            <a:ext cx="3474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C0362C"/>
                </a:solidFill>
                <a:latin typeface="Calibri"/>
              </a:rPr>
              <a:t>over cap · low confidence · verifier disagrees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" y="4800600"/>
            <a:ext cx="10515600" cy="658368"/>
          </a:xfrm>
          <a:prstGeom prst="roundRect">
            <a:avLst/>
          </a:prstGeom>
          <a:solidFill>
            <a:srgbClr val="E9F0F9"/>
          </a:solidFill>
          <a:ln w="15875">
            <a:solidFill>
              <a:srgbClr val="016F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51560" y="4910328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016FD0"/>
                </a:solidFill>
                <a:latin typeface="Calibri"/>
              </a:rPr>
              <a:t>⛓  Hash-chained audit trail   </a:t>
            </a:r>
            <a:r>
              <a:rPr sz="1250" b="0">
                <a:solidFill>
                  <a:srgbClr val="5B6673"/>
                </a:solidFill>
                <a:latin typeface="Calibri"/>
              </a:rPr>
              <a:t>— every decision sealed in order, tagged with the rule that fired (e.g. LIMIT-CAP v1.1)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598932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B6673"/>
                </a:solidFill>
                <a:latin typeface="Calibri"/>
              </a:rPr>
              <a:t>The model never has authority over money — a deterministic, versioned rule engine decides and cites the exact rule; a second agent verifies before anything executes.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End-to-End Servicing Agent · CodeStreet 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16FD0"/>
                </a:solidFill>
                <a:latin typeface="Calibri"/>
              </a:rPr>
              <a:t>DIFFERENTIATOR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841248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0F172A"/>
                </a:solidFill>
                <a:latin typeface="Calibri"/>
              </a:rPr>
              <a:t>Tamper-evident audit trail — trust by architecture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85415"/>
            <a:ext cx="109728" cy="109728"/>
          </a:xfrm>
          <a:prstGeom prst="round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2103120"/>
            <a:ext cx="64922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72A"/>
                </a:solidFill>
                <a:latin typeface="Calibri"/>
              </a:rPr>
              <a:t>Every decision, policy check &amp; backend call is hash-chained (SHA-256)</a:t>
            </a:r>
            <a:r>
              <a:rPr sz="1500" b="0">
                <a:solidFill>
                  <a:srgbClr val="5B6673"/>
                </a:solidFill>
                <a:latin typeface="Calibri"/>
              </a:rPr>
              <a:t>  — each entry seals the one before 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935223"/>
            <a:ext cx="109728" cy="109728"/>
          </a:xfrm>
          <a:prstGeom prst="round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15568" y="2852927"/>
            <a:ext cx="64922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72A"/>
                </a:solidFill>
                <a:latin typeface="Calibri"/>
              </a:rPr>
              <a:t>Edit any past entry and every downstream hash breaks</a:t>
            </a:r>
            <a:r>
              <a:rPr sz="1500" b="0">
                <a:solidFill>
                  <a:srgbClr val="5B6673"/>
                </a:solidFill>
                <a:latin typeface="Calibri"/>
              </a:rPr>
              <a:t>  — caught live in the demo (verify flips to ‘broken @ seq N’).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685031"/>
            <a:ext cx="109728" cy="109728"/>
          </a:xfrm>
          <a:prstGeom prst="round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" y="3602735"/>
            <a:ext cx="64922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72A"/>
                </a:solidFill>
                <a:latin typeface="Calibri"/>
              </a:rPr>
              <a:t>Complete chain-of-custody, not sampling</a:t>
            </a:r>
            <a:r>
              <a:rPr sz="1500" b="0">
                <a:solidFill>
                  <a:srgbClr val="5B6673"/>
                </a:solidFill>
                <a:latin typeface="Calibri"/>
              </a:rPr>
              <a:t>  — the difference between ‘we think’ and ‘we can prove’.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4434840"/>
            <a:ext cx="109728" cy="109728"/>
          </a:xfrm>
          <a:prstGeom prst="round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5568" y="4352544"/>
            <a:ext cx="64922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72A"/>
                </a:solidFill>
                <a:latin typeface="Calibri"/>
              </a:rPr>
              <a:t>Persisted to Neo4j — explorable as an analyst graph</a:t>
            </a:r>
            <a:r>
              <a:rPr sz="1500" b="0">
                <a:solidFill>
                  <a:srgbClr val="5B6673"/>
                </a:solidFill>
                <a:latin typeface="Calibri"/>
              </a:rPr>
              <a:t>  — query the whole chain of custody, not scroll a log.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5184648"/>
            <a:ext cx="109728" cy="109728"/>
          </a:xfrm>
          <a:prstGeom prst="round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15568" y="5102352"/>
            <a:ext cx="64922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72A"/>
                </a:solidFill>
                <a:latin typeface="Calibri"/>
              </a:rPr>
              <a:t>Maps to model-risk (SR 11-7) &amp; adverse-action explainability</a:t>
            </a:r>
            <a:r>
              <a:rPr sz="1500" b="0">
                <a:solidFill>
                  <a:srgbClr val="5B6673"/>
                </a:solidFill>
                <a:latin typeface="Calibri"/>
              </a:rPr>
              <a:t>  — audit-ready by design.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635240" y="2103120"/>
            <a:ext cx="3749039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16F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ui_graph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8160" y="2240280"/>
            <a:ext cx="2597307" cy="36118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635240" y="5888736"/>
            <a:ext cx="3749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Live Neo4j graph — policy rules are nodes (APPLIED_RULE)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End-to-End Servicing Agent · CodeStreet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6D4FC4"/>
                </a:solidFill>
                <a:latin typeface="Calibri"/>
              </a:rPr>
              <a:t>DIFFERENTIATOR 2 · BEYOND THE BRIEF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841248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0F172A"/>
                </a:solidFill>
                <a:latin typeface="Calibri"/>
              </a:rPr>
              <a:t>Servicing cases that can’t be left half-done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231136"/>
            <a:ext cx="109728" cy="109728"/>
          </a:xfrm>
          <a:prstGeom prst="round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2148840"/>
            <a:ext cx="649224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0F172A"/>
                </a:solidFill>
                <a:latin typeface="Calibri"/>
              </a:rPr>
              <a:t>Every high-stakes request becomes a durable Temporal workflow</a:t>
            </a:r>
            <a:r>
              <a:rPr sz="1550" b="0">
                <a:solidFill>
                  <a:srgbClr val="5B6673"/>
                </a:solidFill>
                <a:latin typeface="Calibri"/>
              </a:rPr>
              <a:t>  — it survives crashes and resumes exactly where it stopped.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072384"/>
            <a:ext cx="109728" cy="109728"/>
          </a:xfrm>
          <a:prstGeom prst="round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15568" y="2990088"/>
            <a:ext cx="649224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0F172A"/>
                </a:solidFill>
                <a:latin typeface="Calibri"/>
              </a:rPr>
              <a:t>Saga with automatic compensation</a:t>
            </a:r>
            <a:r>
              <a:rPr sz="1550" b="0">
                <a:solidFill>
                  <a:srgbClr val="5B6673"/>
                </a:solidFill>
                <a:latin typeface="Calibri"/>
              </a:rPr>
              <a:t>  — if a step fails, completed steps roll back in reverse. Never partial.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913632"/>
            <a:ext cx="109728" cy="109728"/>
          </a:xfrm>
          <a:prstGeom prst="round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" y="3831336"/>
            <a:ext cx="649224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0F172A"/>
                </a:solidFill>
                <a:latin typeface="Calibri"/>
              </a:rPr>
              <a:t>Durable human-in-the-loop approval</a:t>
            </a:r>
            <a:r>
              <a:rPr sz="1550" b="0">
                <a:solidFill>
                  <a:srgbClr val="5B6673"/>
                </a:solidFill>
                <a:latin typeface="Calibri"/>
              </a:rPr>
              <a:t>  — over-policy cases wait on an underwriter for as long as it takes.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4754880"/>
            <a:ext cx="109728" cy="109728"/>
          </a:xfrm>
          <a:prstGeom prst="round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5568" y="4672584"/>
            <a:ext cx="649224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0F172A"/>
                </a:solidFill>
                <a:latin typeface="Calibri"/>
              </a:rPr>
              <a:t>Live status + replayable event history</a:t>
            </a:r>
            <a:r>
              <a:rPr sz="1550" b="0">
                <a:solidFill>
                  <a:srgbClr val="5B6673"/>
                </a:solidFill>
                <a:latin typeface="Calibri"/>
              </a:rPr>
              <a:t>  — queryable in real time; the log is itself an audit.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80960" y="2194560"/>
            <a:ext cx="3291840" cy="3429000"/>
          </a:xfrm>
          <a:prstGeom prst="roundRect">
            <a:avLst/>
          </a:prstGeom>
          <a:solidFill>
            <a:srgbClr val="E9F0F9"/>
          </a:solidFill>
          <a:ln w="19050">
            <a:solidFill>
              <a:srgbClr val="6D4F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09560" y="2377440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6D4FC4"/>
                </a:solidFill>
                <a:latin typeface="Calibri"/>
              </a:rPr>
              <a:t>Card replacement saga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09560" y="2834640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059669"/>
                </a:solidFill>
                <a:latin typeface="Calibri"/>
              </a:rPr>
              <a:t>✓ block old card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09560" y="3291840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059669"/>
                </a:solidFill>
                <a:latin typeface="Calibri"/>
              </a:rPr>
              <a:t>✓ charge fee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3749039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C0362C"/>
                </a:solidFill>
                <a:latin typeface="Calibri"/>
              </a:rPr>
              <a:t>✗ order fulfillment — fails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09560" y="4206240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B45309"/>
                </a:solidFill>
                <a:latin typeface="Calibri"/>
              </a:rPr>
              <a:t>↩ refund fee (compensate)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9560" y="4663440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B45309"/>
                </a:solidFill>
                <a:latin typeface="Calibri"/>
              </a:rPr>
              <a:t>↩ unblock card (compensate)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09560" y="5120640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016FD0"/>
                </a:solidFill>
                <a:latin typeface="Calibri"/>
              </a:rPr>
              <a:t>= rolled back · consistent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End-to-End Servicing Agent · CodeStreet 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02663"/>
                </a:solidFill>
                <a:latin typeface="Calibri"/>
              </a:rPr>
              <a:t>DIFFERENTIATOR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841248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0F172A"/>
                </a:solidFill>
                <a:latin typeface="Calibri"/>
              </a:rPr>
              <a:t>Trustworthy by construction — the LLM never decides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5120640" cy="1783080"/>
          </a:xfrm>
          <a:prstGeom prst="roundRect">
            <a:avLst/>
          </a:prstGeom>
          <a:solidFill>
            <a:srgbClr val="E9F0F9"/>
          </a:solidFill>
          <a:ln w="17780">
            <a:solidFill>
              <a:srgbClr val="016F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97280" y="2404872"/>
            <a:ext cx="457200" cy="100584"/>
          </a:xfrm>
          <a:prstGeom prst="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60604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0F172A"/>
                </a:solidFill>
                <a:latin typeface="Calibri"/>
              </a:rPr>
              <a:t>Policy-as-Code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63240"/>
            <a:ext cx="4617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B6673"/>
                </a:solidFill>
                <a:latin typeface="Calibri"/>
              </a:rPr>
              <a:t>Versioned declarative rules decide; the LLM only proposes. Every decision cites the exact rule + version (e.g. LIMIT-CAP v1.1). Change policy = edit data + bump a version, no agent code.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2148840"/>
            <a:ext cx="5120640" cy="1783080"/>
          </a:xfrm>
          <a:prstGeom prst="roundRect">
            <a:avLst/>
          </a:prstGeom>
          <a:solidFill>
            <a:srgbClr val="E9F0F9"/>
          </a:solidFill>
          <a:ln w="17780">
            <a:solidFill>
              <a:srgbClr val="6D4F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46520" y="2404872"/>
            <a:ext cx="457200" cy="100584"/>
          </a:xfrm>
          <a:prstGeom prst="rect">
            <a:avLst/>
          </a:prstGeom>
          <a:solidFill>
            <a:srgbClr val="6D4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260604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0F172A"/>
                </a:solidFill>
                <a:latin typeface="Calibri"/>
              </a:rPr>
              <a:t>Self-verifying agent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3063240"/>
            <a:ext cx="4617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B6673"/>
                </a:solidFill>
                <a:latin typeface="Calibri"/>
              </a:rPr>
              <a:t>A second reviewer LLM must agree the interpretation matches the request before acting — a bounded propose → verify → revise loop; escalates if the two agents can't agree. Risk-based, so it's spent where it matters.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4114800"/>
            <a:ext cx="5120640" cy="1783080"/>
          </a:xfrm>
          <a:prstGeom prst="roundRect">
            <a:avLst/>
          </a:prstGeom>
          <a:solidFill>
            <a:srgbClr val="E9F0F9"/>
          </a:solidFill>
          <a:ln w="1778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97280" y="4370832"/>
            <a:ext cx="457200" cy="100584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457200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0F172A"/>
                </a:solidFill>
                <a:latin typeface="Calibri"/>
              </a:rPr>
              <a:t>Counterfactual answers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29200"/>
            <a:ext cx="4617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B6673"/>
                </a:solidFill>
                <a:latin typeface="Calibri"/>
              </a:rPr>
              <a:t>On a denial we compute the nearest-approvable outcome ('I can do $15,600 now'), mapping to ECOA/CFPB adverse-action 'specific reasons'.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4114800"/>
            <a:ext cx="5120640" cy="1783080"/>
          </a:xfrm>
          <a:prstGeom prst="roundRect">
            <a:avLst/>
          </a:prstGeom>
          <a:solidFill>
            <a:srgbClr val="E9F0F9"/>
          </a:solidFill>
          <a:ln w="1778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46520" y="4370832"/>
            <a:ext cx="457200" cy="100584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457200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0F172A"/>
                </a:solidFill>
                <a:latin typeface="Calibri"/>
              </a:rPr>
              <a:t>Decision provenance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5029200"/>
            <a:ext cx="4617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B6673"/>
                </a:solidFill>
                <a:latin typeface="Calibri"/>
              </a:rPr>
              <a:t>Rules become nodes in Neo4j — analysts query which rule approved or denied across members, not just scroll a log.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End-to-End Servicing Agent · CodeStreet 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16FD0"/>
                </a:solidFill>
                <a:latin typeface="Calibri"/>
              </a:rPr>
              <a:t>EVALUATION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841248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0F172A"/>
                </a:solidFill>
                <a:latin typeface="Calibri"/>
              </a:rPr>
              <a:t>Measured, not asserted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15600" cy="457200"/>
          </a:xfrm>
          <a:prstGeom prst="rect">
            <a:avLst/>
          </a:prstGeom>
          <a:solidFill>
            <a:srgbClr val="0026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12848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Metric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0" y="2212848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Result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0" y="2212848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How it’s graded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606040"/>
            <a:ext cx="10515600" cy="566928"/>
          </a:xfrm>
          <a:prstGeom prst="rect">
            <a:avLst/>
          </a:prstGeom>
          <a:solidFill>
            <a:srgbClr val="E9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72491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0F172A"/>
                </a:solidFill>
                <a:latin typeface="Calibri"/>
              </a:rPr>
              <a:t>Intent classification accuracy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0" y="2724912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059669"/>
                </a:solidFill>
                <a:latin typeface="Calibri"/>
              </a:rPr>
              <a:t>90%  (n=20)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0" y="2724912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673"/>
                </a:solidFill>
                <a:latin typeface="Calibri"/>
              </a:rPr>
              <a:t>labeled eval set · LLM target ≥95%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3172968"/>
            <a:ext cx="10515600" cy="566928"/>
          </a:xfrm>
          <a:prstGeom prst="rect">
            <a:avLst/>
          </a:prstGeom>
          <a:solidFill>
            <a:srgbClr val="F6F9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29184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0F172A"/>
                </a:solidFill>
                <a:latin typeface="Calibri"/>
              </a:rPr>
              <a:t>First-contact resolution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329184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059669"/>
                </a:solidFill>
                <a:latin typeface="Calibri"/>
              </a:rPr>
              <a:t>80%  (12/15)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60" y="329184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673"/>
                </a:solidFill>
                <a:latin typeface="Calibri"/>
              </a:rPr>
              <a:t>multi-turn outcome check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3739896"/>
            <a:ext cx="10515600" cy="566928"/>
          </a:xfrm>
          <a:prstGeom prst="rect">
            <a:avLst/>
          </a:prstGeom>
          <a:solidFill>
            <a:srgbClr val="E9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3858768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0F172A"/>
                </a:solidFill>
                <a:latin typeface="Calibri"/>
              </a:rPr>
              <a:t>Correct handling (resolve / safe-escalate)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0" y="3858768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059669"/>
                </a:solidFill>
                <a:latin typeface="Calibri"/>
              </a:rPr>
              <a:t>86.7%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95360" y="3858768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673"/>
                </a:solidFill>
                <a:latin typeface="Calibri"/>
              </a:rPr>
              <a:t>outcome check, in-scope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4306824"/>
            <a:ext cx="10515600" cy="566928"/>
          </a:xfrm>
          <a:prstGeom prst="rect">
            <a:avLst/>
          </a:prstGeom>
          <a:solidFill>
            <a:srgbClr val="F6F9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4425696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0F172A"/>
                </a:solidFill>
                <a:latin typeface="Calibri"/>
              </a:rPr>
              <a:t>Policy violations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52160" y="4425696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016FD0"/>
                </a:solidFill>
                <a:latin typeface="Calibri"/>
              </a:rPr>
              <a:t>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95360" y="4425696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673"/>
                </a:solidFill>
                <a:latin typeface="Calibri"/>
              </a:rPr>
              <a:t>engine caps enforced + verified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4873752"/>
            <a:ext cx="10515600" cy="566928"/>
          </a:xfrm>
          <a:prstGeom prst="rect">
            <a:avLst/>
          </a:prstGeom>
          <a:solidFill>
            <a:srgbClr val="E9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5840" y="4992624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0F172A"/>
                </a:solidFill>
                <a:latin typeface="Calibri"/>
              </a:rPr>
              <a:t>Audit integrity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52160" y="4992624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016FD0"/>
                </a:solidFill>
                <a:latin typeface="Calibri"/>
              </a:rPr>
              <a:t>100% intact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60" y="4992624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673"/>
                </a:solidFill>
                <a:latin typeface="Calibri"/>
              </a:rPr>
              <a:t>hash-chain verification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562356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72A"/>
                </a:solidFill>
                <a:latin typeface="Calibri"/>
              </a:rPr>
              <a:t>We report TRUE resolution + escalation rate — not just deflection. </a:t>
            </a:r>
            <a:r>
              <a:rPr sz="1300" b="0">
                <a:solidFill>
                  <a:srgbClr val="5B6673"/>
                </a:solidFill>
                <a:latin typeface="Calibri"/>
              </a:rPr>
              <a:t>Financial-services deflection is realistically 25–45%; finance teams target &lt;1% error, because one wrong answer is a compliance event.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End-to-End Servicing Agent · CodeStreet 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16FD0"/>
                </a:solidFill>
                <a:latin typeface="Calibri"/>
              </a:rPr>
              <a:t>WHY AMEX · WHY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841248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0F172A"/>
                </a:solidFill>
                <a:latin typeface="Calibri"/>
              </a:rPr>
              <a:t>The governance layer that makes autonomy deployable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093976"/>
            <a:ext cx="109728" cy="109728"/>
          </a:xfrm>
          <a:prstGeom prst="round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2011680"/>
            <a:ext cx="10424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0F172A"/>
                </a:solidFill>
                <a:latin typeface="Calibri"/>
              </a:rPr>
              <a:t>Amex’s 2026 direction is agentic commerce — agents that decide and act</a:t>
            </a:r>
            <a:r>
              <a:rPr sz="1550" b="0">
                <a:solidFill>
                  <a:srgbClr val="5B6673"/>
                </a:solidFill>
                <a:latin typeface="Calibri"/>
              </a:rPr>
              <a:t>  — this is exactly that, applied to servicing.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916936"/>
            <a:ext cx="109728" cy="109728"/>
          </a:xfrm>
          <a:prstGeom prst="round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15568" y="2834640"/>
            <a:ext cx="10424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0F172A"/>
                </a:solidFill>
                <a:latin typeface="Calibri"/>
              </a:rPr>
              <a:t>Only 21% of enterprises have mature agentic-AI governance, yet 74% expect to use AI agents by 2027</a:t>
            </a:r>
            <a:r>
              <a:rPr sz="1550" b="0">
                <a:solidFill>
                  <a:srgbClr val="5B6673"/>
                </a:solidFill>
                <a:latin typeface="Calibri"/>
              </a:rPr>
              <a:t>  (Deloitte) — most are scaling agents without the guardrails.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739896"/>
            <a:ext cx="109728" cy="109728"/>
          </a:xfrm>
          <a:prstGeom prst="round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" y="3657600"/>
            <a:ext cx="10424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0F172A"/>
                </a:solidFill>
                <a:latin typeface="Calibri"/>
              </a:rPr>
              <a:t>Deloitte names the missing controls: audit trails of every agent action + human-approval boundaries</a:t>
            </a:r>
            <a:r>
              <a:rPr sz="1550" b="0">
                <a:solidFill>
                  <a:srgbClr val="5B6673"/>
                </a:solidFill>
                <a:latin typeface="Calibri"/>
              </a:rPr>
              <a:t>  — the exact two things we built.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4617720"/>
            <a:ext cx="10515600" cy="914400"/>
          </a:xfrm>
          <a:prstGeom prst="roundRect">
            <a:avLst/>
          </a:prstGeom>
          <a:solidFill>
            <a:srgbClr val="E9F0F9"/>
          </a:solidFill>
          <a:ln w="15875">
            <a:solidFill>
              <a:srgbClr val="016F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475488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72A"/>
                </a:solidFill>
                <a:latin typeface="Calibri"/>
              </a:rPr>
              <a:t>“With every use case, we’ve ensured there is human oversight.”</a:t>
            </a:r>
            <a:r>
              <a:rPr sz="1250" b="0">
                <a:solidFill>
                  <a:srgbClr val="5B6673"/>
                </a:solidFill>
                <a:latin typeface="Calibri"/>
              </a:rPr>
              <a:t>   — Ravi Radhakrishnan, EVP &amp; CIO, American Express (Forbes, 2025)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76072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016FD0"/>
                </a:solidFill>
                <a:latin typeface="Calibri"/>
              </a:rPr>
              <a:t>Sources:  </a:t>
            </a:r>
            <a:r>
              <a:rPr sz="950" b="0">
                <a:solidFill>
                  <a:srgbClr val="5B6673"/>
                </a:solidFill>
                <a:latin typeface="Calibri"/>
              </a:rPr>
              <a:t>Deloitte, “Agentic AI is scaling faster than guardrails” (2025)   ·   Forbes / Peter High, “Ravi Radhakrishnan on Driving AI Innovation at American Express” (May 2025)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End-to-End Servicing Agent · CodeStreet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16FD0"/>
                </a:solidFill>
                <a:latin typeface="Calibri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841248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0F172A"/>
                </a:solidFill>
                <a:latin typeface="Calibri"/>
              </a:rPr>
              <a:t>Built to be real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331720"/>
            <a:ext cx="2011680" cy="566928"/>
          </a:xfrm>
          <a:prstGeom prst="roundRect">
            <a:avLst/>
          </a:prstGeom>
          <a:solidFill>
            <a:srgbClr val="E9F0F9"/>
          </a:solidFill>
          <a:ln w="15875">
            <a:solidFill>
              <a:srgbClr val="016F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  <a:latin typeface="Calibri"/>
              </a:rPr>
              <a:t>Next.js UI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926080" y="2487168"/>
            <a:ext cx="457200" cy="256032"/>
          </a:xfrm>
          <a:prstGeom prst="rightArrow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474720" y="2331720"/>
            <a:ext cx="1828800" cy="566928"/>
          </a:xfrm>
          <a:prstGeom prst="roundRect">
            <a:avLst/>
          </a:prstGeom>
          <a:solidFill>
            <a:srgbClr val="E9F0F9"/>
          </a:solidFill>
          <a:ln w="15875">
            <a:solidFill>
              <a:srgbClr val="016F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  <a:latin typeface="Calibri"/>
              </a:rPr>
              <a:t>FastAPI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394960" y="2487168"/>
            <a:ext cx="457200" cy="256032"/>
          </a:xfrm>
          <a:prstGeom prst="rightArrow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0" y="2331720"/>
            <a:ext cx="5394960" cy="566928"/>
          </a:xfrm>
          <a:prstGeom prst="roundRect">
            <a:avLst/>
          </a:prstGeom>
          <a:solidFill>
            <a:srgbClr val="E9F0F9"/>
          </a:solidFill>
          <a:ln w="15875">
            <a:solidFill>
              <a:srgbClr val="6D4F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  <a:latin typeface="Calibri"/>
              </a:rPr>
              <a:t>LangGraph agent: classifier · policy · flows · audit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520440"/>
            <a:ext cx="2377440" cy="566928"/>
          </a:xfrm>
          <a:prstGeom prst="roundRect">
            <a:avLst/>
          </a:prstGeom>
          <a:solidFill>
            <a:srgbClr val="E9F0F9"/>
          </a:solidFill>
          <a:ln w="15875">
            <a:solidFill>
              <a:srgbClr val="6D4F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  <a:latin typeface="Calibri"/>
              </a:rPr>
              <a:t>Temporal server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291840" y="3675887"/>
            <a:ext cx="457200" cy="256032"/>
          </a:xfrm>
          <a:prstGeom prst="rightArrow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840480" y="3520440"/>
            <a:ext cx="1554480" cy="566928"/>
          </a:xfrm>
          <a:prstGeom prst="roundRect">
            <a:avLst/>
          </a:prstGeom>
          <a:solidFill>
            <a:srgbClr val="E9F0F9"/>
          </a:solidFill>
          <a:ln w="15875">
            <a:solidFill>
              <a:srgbClr val="6D4F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  <a:latin typeface="Calibri"/>
              </a:rPr>
              <a:t>Worker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486400" y="3675887"/>
            <a:ext cx="457200" cy="256032"/>
          </a:xfrm>
          <a:prstGeom prst="rightArrow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035040" y="3520440"/>
            <a:ext cx="5303520" cy="566928"/>
          </a:xfrm>
          <a:prstGeom prst="roundRect">
            <a:avLst/>
          </a:prstGeom>
          <a:solidFill>
            <a:srgbClr val="E9F0F9"/>
          </a:solidFill>
          <a:ln w="15875">
            <a:solidFill>
              <a:srgbClr val="6D4F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  <a:latin typeface="Calibri"/>
              </a:rPr>
              <a:t>ServicingCaseWorkflow → saga · compensation · approval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160520"/>
            <a:ext cx="3108960" cy="566928"/>
          </a:xfrm>
          <a:prstGeom prst="roundRect">
            <a:avLst/>
          </a:prstGeom>
          <a:solidFill>
            <a:srgbClr val="E9F0F9"/>
          </a:solidFill>
          <a:ln w="15875">
            <a:solidFill>
              <a:srgbClr val="016F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  <a:latin typeface="Calibri"/>
              </a:rPr>
              <a:t>Audit chain → /graph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4023360" y="4315968"/>
            <a:ext cx="457200" cy="256032"/>
          </a:xfrm>
          <a:prstGeom prst="rightArrow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572000" y="4160520"/>
            <a:ext cx="2743200" cy="566928"/>
          </a:xfrm>
          <a:prstGeom prst="roundRect">
            <a:avLst/>
          </a:prstGeom>
          <a:solidFill>
            <a:srgbClr val="E9F0F9"/>
          </a:solidFill>
          <a:ln w="15875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  <a:latin typeface="Calibri"/>
              </a:rPr>
              <a:t>Neo4j Aura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7406640" y="4315968"/>
            <a:ext cx="457200" cy="256032"/>
          </a:xfrm>
          <a:prstGeom prst="rightArrow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955279" y="4160520"/>
            <a:ext cx="3383280" cy="566928"/>
          </a:xfrm>
          <a:prstGeom prst="roundRect">
            <a:avLst/>
          </a:prstGeom>
          <a:solidFill>
            <a:srgbClr val="E9F0F9"/>
          </a:solidFill>
          <a:ln w="15875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  <a:latin typeface="Calibri"/>
              </a:rPr>
              <a:t>Cytoscape analyst graph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" y="4892040"/>
            <a:ext cx="10515600" cy="868680"/>
          </a:xfrm>
          <a:prstGeom prst="roundRect">
            <a:avLst/>
          </a:prstGeom>
          <a:solidFill>
            <a:srgbClr val="E9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7280" y="5010912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16FD0"/>
                </a:solidFill>
                <a:latin typeface="Calibri"/>
              </a:rPr>
              <a:t>Stack   </a:t>
            </a:r>
            <a:r>
              <a:rPr sz="1250" b="0">
                <a:solidFill>
                  <a:srgbClr val="0F172A"/>
                </a:solidFill>
                <a:latin typeface="Calibri"/>
              </a:rPr>
              <a:t>Python · FastAPI · LangGraph · Gemini · Temporal · Neo4j · Next.js · Cytoscape · SHA-256 hash-chain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523036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673"/>
                </a:solidFill>
                <a:latin typeface="Calibri"/>
              </a:rPr>
              <a:t>Core-banking is mocked today; each call swaps to a real Amex API with no change to the agent logic.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End-to-End Servicing Agent · CodeStreet 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16FD0"/>
                </a:solidFill>
                <a:latin typeface="Calibri"/>
              </a:rPr>
              <a:t>SYSTEM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841248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0F172A"/>
                </a:solidFill>
                <a:latin typeface="Calibri"/>
              </a:rPr>
              <a:t>Low-level design — how a durable case executes</a:t>
            </a:r>
          </a:p>
        </p:txBody>
      </p:sp>
      <p:pic>
        <p:nvPicPr>
          <p:cNvPr id="6" name="Picture 5" descr="durable_case_sequ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965960"/>
            <a:ext cx="6537960" cy="4290695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543800" y="1965960"/>
            <a:ext cx="3840480" cy="1965960"/>
          </a:xfrm>
          <a:prstGeom prst="roundRect">
            <a:avLst/>
          </a:prstGeom>
          <a:solidFill>
            <a:srgbClr val="E9F0F9"/>
          </a:solidFill>
          <a:ln w="12700">
            <a:solidFill>
              <a:srgbClr val="016F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0" y="2084831"/>
            <a:ext cx="3474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002663"/>
                </a:solidFill>
                <a:latin typeface="Calibri"/>
              </a:rPr>
              <a:t>Components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2395728"/>
            <a:ext cx="3520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0F172A"/>
                </a:solidFill>
                <a:latin typeface="Calibri"/>
              </a:rPr>
              <a:t>FastAPI  </a:t>
            </a:r>
            <a:r>
              <a:rPr sz="1000" b="0">
                <a:solidFill>
                  <a:srgbClr val="5B6673"/>
                </a:solidFill>
                <a:latin typeface="Calibri"/>
              </a:rPr>
              <a:t>owns card state + audit chain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2743200"/>
            <a:ext cx="3520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0F172A"/>
                </a:solidFill>
                <a:latin typeface="Calibri"/>
              </a:rPr>
              <a:t>LangGraph  </a:t>
            </a:r>
            <a:r>
              <a:rPr sz="1000" b="0">
                <a:solidFill>
                  <a:srgbClr val="5B6673"/>
                </a:solidFill>
                <a:latin typeface="Calibri"/>
              </a:rPr>
              <a:t>classify · policy · flows · assist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3090672"/>
            <a:ext cx="3520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0F172A"/>
                </a:solidFill>
                <a:latin typeface="Calibri"/>
              </a:rPr>
              <a:t>Temporal worker  </a:t>
            </a:r>
            <a:r>
              <a:rPr sz="1000" b="0">
                <a:solidFill>
                  <a:srgbClr val="5B6673"/>
                </a:solidFill>
                <a:latin typeface="Calibri"/>
              </a:rPr>
              <a:t>durable saga + compensation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3438144"/>
            <a:ext cx="3520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0F172A"/>
                </a:solidFill>
                <a:latin typeface="Calibri"/>
              </a:rPr>
              <a:t>Neo4j Aura  </a:t>
            </a:r>
            <a:r>
              <a:rPr sz="1000" b="0">
                <a:solidFill>
                  <a:srgbClr val="5B6673"/>
                </a:solidFill>
                <a:latin typeface="Calibri"/>
              </a:rPr>
              <a:t>audit graph for analysts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43800" y="4114800"/>
            <a:ext cx="3840480" cy="2176272"/>
          </a:xfrm>
          <a:prstGeom prst="roundRect">
            <a:avLst/>
          </a:prstGeom>
          <a:solidFill>
            <a:srgbClr val="E9F0F9"/>
          </a:solidFill>
          <a:ln w="12700">
            <a:solidFill>
              <a:srgbClr val="016F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4224528"/>
            <a:ext cx="3474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002663"/>
                </a:solidFill>
                <a:latin typeface="Calibri"/>
              </a:rPr>
              <a:t>Audit entry (hash-chained)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4517136"/>
            <a:ext cx="3520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Courier New"/>
              </a:rPr>
              <a:t>{ seq, actor, action,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Courier New"/>
              </a:rPr>
              <a:t>  payload, prev_hash, hash }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5138928"/>
            <a:ext cx="3474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002663"/>
                </a:solidFill>
                <a:latin typeface="Calibri"/>
              </a:rPr>
              <a:t>Key APIs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5431536"/>
            <a:ext cx="35204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Courier New"/>
              </a:rPr>
              <a:t>POST /chat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5646420"/>
            <a:ext cx="35204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Courier New"/>
              </a:rPr>
              <a:t>POST /cases/start · /decision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0" y="5861304"/>
            <a:ext cx="35204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Courier New"/>
              </a:rPr>
              <a:t>POST /internal/action/{action}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0" y="6076188"/>
            <a:ext cx="35204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Courier New"/>
              </a:rPr>
              <a:t>GET  /cases · /graph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End-to-End Servicing Agent · CodeStreet 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16FD0"/>
                </a:solidFill>
                <a:latin typeface="Calibri"/>
              </a:rPr>
              <a:t>WHAT’S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841248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0F172A"/>
                </a:solidFill>
                <a:latin typeface="Calibri"/>
              </a:rPr>
              <a:t>From prototype to production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276856"/>
            <a:ext cx="109728" cy="109728"/>
          </a:xfrm>
          <a:prstGeom prst="round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2194560"/>
            <a:ext cx="1042416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50" b="1">
                <a:solidFill>
                  <a:srgbClr val="0F172A"/>
                </a:solidFill>
                <a:latin typeface="Calibri"/>
              </a:rPr>
              <a:t>Round 2: integrate real servicing APIs, add voice, expand intents,</a:t>
            </a:r>
            <a:r>
              <a:rPr sz="1650" b="0">
                <a:solidFill>
                  <a:srgbClr val="5B6673"/>
                </a:solidFill>
                <a:latin typeface="Calibri"/>
              </a:rPr>
              <a:t>  and add an LLM-judge clarity eval.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118103"/>
            <a:ext cx="109728" cy="109728"/>
          </a:xfrm>
          <a:prstGeom prst="round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15568" y="3035808"/>
            <a:ext cx="1042416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50" b="1">
                <a:solidFill>
                  <a:srgbClr val="0F172A"/>
                </a:solidFill>
                <a:latin typeface="Calibri"/>
              </a:rPr>
              <a:t>Production audit store: append-only, write-once storage behind the same hash-chain</a:t>
            </a:r>
            <a:r>
              <a:rPr sz="1650" b="0">
                <a:solidFill>
                  <a:srgbClr val="5B6673"/>
                </a:solidFill>
                <a:latin typeface="Calibri"/>
              </a:rPr>
              <a:t>  — exportable for auditors.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959352"/>
            <a:ext cx="109728" cy="109728"/>
          </a:xfrm>
          <a:prstGeom prst="round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" y="3877056"/>
            <a:ext cx="1042416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50" b="1">
                <a:solidFill>
                  <a:srgbClr val="0F172A"/>
                </a:solidFill>
                <a:latin typeface="Calibri"/>
              </a:rPr>
              <a:t>Guardrails &amp; governance: per-action risk tiers, kill-switch, policy versioning</a:t>
            </a:r>
            <a:r>
              <a:rPr sz="1650" b="0">
                <a:solidFill>
                  <a:srgbClr val="5B6673"/>
                </a:solidFill>
                <a:latin typeface="Calibri"/>
              </a:rPr>
              <a:t>  — the governance substrate for Amex agents.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5029200"/>
            <a:ext cx="10515600" cy="960120"/>
          </a:xfrm>
          <a:prstGeom prst="roundRect">
            <a:avLst/>
          </a:prstGeom>
          <a:solidFill>
            <a:srgbClr val="0026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5230368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The ask:  </a:t>
            </a:r>
            <a:r>
              <a:rPr sz="1700" b="0">
                <a:solidFill>
                  <a:srgbClr val="FFFFFF"/>
                </a:solidFill>
                <a:latin typeface="Calibri"/>
              </a:rPr>
              <a:t>advance us to the prototype round — the core already works end-to-end.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End-to-End Servicing Agent · CodeStreet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