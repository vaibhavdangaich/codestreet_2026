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pic>
        <p:nvPicPr>
          <p:cNvPr id="6" name="Picture 5" descr="u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6858000" cy="428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75320" y="19659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What you’re seeing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5511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Policy citation in every reply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“auto-approved under FEE-AUTO v1.2”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392424"/>
            <a:ext cx="109728" cy="1097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3355848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Counterfactual on escalation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“I can auto-approve up to $13,000 now”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4233672"/>
            <a:ext cx="109728" cy="109728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4197096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Escalation with full handoff context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the specialist gets everything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5074920"/>
            <a:ext cx="109728" cy="109728"/>
          </a:xfrm>
          <a:prstGeom prst="round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5038344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F172A"/>
                </a:solidFill>
                <a:latin typeface="Calibri"/>
              </a:rPr>
              <a:t>Durable cases + live audit /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673"/>
                </a:solidFill>
                <a:latin typeface="Calibri"/>
              </a:rPr>
              <a:t>one screen, in real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9436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Live capture of the running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A REQUEST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LLM proposes — a versioned engine decides and cites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6888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3072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LLM proposes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468880"/>
            <a:ext cx="22860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0723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decides · cites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7238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risk-based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468880"/>
            <a:ext cx="15087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77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663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066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1832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03920" y="3337560"/>
            <a:ext cx="256032" cy="41148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20" y="3840480"/>
            <a:ext cx="3520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— with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91363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362C"/>
                </a:solidFill>
                <a:latin typeface="Calibri"/>
              </a:rPr>
              <a:t>over cap · low confidence · verifier disagrees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0600"/>
            <a:ext cx="1051560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10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16FD0"/>
                </a:solidFill>
                <a:latin typeface="Calibri"/>
              </a:rPr>
              <a:t>⛓  Hash-chained audit trail   </a:t>
            </a:r>
            <a:r>
              <a:rPr sz="1250" b="0">
                <a:solidFill>
                  <a:srgbClr val="5B6673"/>
                </a:solidFill>
                <a:latin typeface="Calibri"/>
              </a:rPr>
              <a:t>— every decision sealed in order, tagged with the rule that fired (e.g. LIMIT-CAP v1.1)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The model never has authority over money — a deterministic, versioned rule engine decides and cites the exact rule; a second agent verifies before anything executes.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Tamper-evident audit trail — trust by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28600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3774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#0 request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144000" y="294436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0" y="315468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#1 policy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144000" y="381304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0" y="402336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#2 backend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144000" y="468172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80960" y="489204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49834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#3 agent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DIFFERENTIATOR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Trustworthy by construction — the LLM never 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04872"/>
            <a:ext cx="457200" cy="100584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Versioned declarative rules decide; the LLM only proposes. Every decision cites the exact rule + version (e.g. LIMIT-CAP v1.1). Change policy = edit data + bump a version, no agent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2404872"/>
            <a:ext cx="457200" cy="100584"/>
          </a:xfrm>
          <a:prstGeom prst="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Self-verifying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A second reviewer LLM must agree the interpretation matches the request before acting — a bounded propose → verify → revise loop; escalates if the two agents can't agree. Risk-based, so it's spent where it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370832"/>
            <a:ext cx="457200" cy="1005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Counterfactual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On a denial we compute the nearest-approvable outcome ('I can do $15,600 now'), mapping to ECOA/CFPB adverse-action 'specific reasons'.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4370832"/>
            <a:ext cx="457200" cy="100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Decision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Rules become nodes in Neo4j — analysts query which rule approved or denied across members, not just scroll a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90%  (n=20)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labeled eval set · LLM target ≥95%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72968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80%  (12/15)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multi-turn outcome check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7398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Correct handling (resolve / safe-escalate)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86.7%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outcome check, in-scope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30682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256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engine caps enforced + verified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73752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926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integrity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100% intact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hash-chain verification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We report TRUE resolution + escalation rate — not just deflection. </a:t>
            </a:r>
            <a:r>
              <a:rPr sz="1300" b="0">
                <a:solidFill>
                  <a:srgbClr val="5B6673"/>
                </a:solidFill>
                <a:latin typeface="Calibri"/>
              </a:rPr>
              <a:t>Financial-services deflection is realistically 25–45%; finance teams target &lt;1% error, because one wrong answer is a compliance event.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939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11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169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55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398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9144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5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  ·   Forbes / Peter High, “Ravi Radhakrishnan on Driving AI Innovation at American Express” (May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