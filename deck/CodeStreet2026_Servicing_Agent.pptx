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16FD0"/>
                </a:solidFill>
                <a:latin typeface="Calibri"/>
              </a:rPr>
              <a:t>AMERICAN EXPRESS · CODESTREET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0F172A"/>
                </a:solidFill>
                <a:latin typeface="Calibri"/>
              </a:rPr>
              <a:t>The End-to-End Servicing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673"/>
                </a:solidFill>
                <a:latin typeface="Calibri"/>
              </a:rPr>
              <a:t>Resolves fee reversals, credit-limit increases &amp; card replacements in a </a:t>
            </a:r>
            <a:r>
              <a:rPr sz="2000" b="1">
                <a:solidFill>
                  <a:srgbClr val="0F172A"/>
                </a:solidFill>
                <a:latin typeface="Calibri"/>
              </a:rPr>
              <a:t>single conversation</a:t>
            </a:r>
            <a:r>
              <a:rPr sz="2000" b="0">
                <a:solidFill>
                  <a:srgbClr val="5B6673"/>
                </a:solidFill>
                <a:latin typeface="Calibri"/>
              </a:rPr>
              <a:t> — with a </a:t>
            </a:r>
            <a:r>
              <a:rPr sz="2000" b="1">
                <a:solidFill>
                  <a:srgbClr val="0F172A"/>
                </a:solidFill>
                <a:latin typeface="Calibri"/>
              </a:rPr>
              <a:t>tamper-evident audit trail</a:t>
            </a:r>
            <a:r>
              <a:rPr sz="2000" b="0">
                <a:solidFill>
                  <a:srgbClr val="5B6673"/>
                </a:solidFill>
                <a:latin typeface="Calibri"/>
              </a:rPr>
              <a:t> and a human escape hatch.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754880"/>
            <a:ext cx="6766560" cy="1828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Problem Statement:  </a:t>
            </a:r>
            <a:r>
              <a:rPr sz="1400" b="1">
                <a:solidFill>
                  <a:srgbClr val="0F172A"/>
                </a:solidFill>
                <a:latin typeface="Calibri"/>
              </a:rPr>
              <a:t>End-to-End Servicing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Team:  </a:t>
            </a:r>
            <a:r>
              <a:rPr sz="1400" b="1">
                <a:solidFill>
                  <a:srgbClr val="0F172A"/>
                </a:solidFill>
                <a:latin typeface="Calibri"/>
              </a:rPr>
              <a:t>&lt;your team name&gt;</a:t>
            </a:r>
            <a:r>
              <a:rPr sz="1400" b="0">
                <a:solidFill>
                  <a:srgbClr val="5B6673"/>
                </a:solidFill>
                <a:latin typeface="Calibri"/>
              </a:rPr>
              <a:t>      Members:  </a:t>
            </a:r>
            <a:r>
              <a:rPr sz="1400" b="1">
                <a:solidFill>
                  <a:srgbClr val="0F172A"/>
                </a:solidFill>
                <a:latin typeface="Calibri"/>
              </a:rPr>
              <a:t>&lt;names&gt;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978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Demo video:  </a:t>
            </a:r>
            <a:r>
              <a:rPr sz="1400" b="1">
                <a:solidFill>
                  <a:srgbClr val="016FD0"/>
                </a:solidFill>
                <a:latin typeface="Calibri"/>
              </a:rPr>
              <a:t>&lt;link&gt;</a:t>
            </a:r>
            <a:r>
              <a:rPr sz="1400" b="0">
                <a:solidFill>
                  <a:srgbClr val="5B6673"/>
                </a:solidFill>
                <a:latin typeface="Calibri"/>
              </a:rPr>
              <a:t>      Repo:  </a:t>
            </a:r>
            <a:r>
              <a:rPr sz="1400" b="1">
                <a:solidFill>
                  <a:srgbClr val="016FD0"/>
                </a:solidFill>
                <a:latin typeface="Calibri"/>
              </a:rPr>
              <a:t>github.com/VaibhavDangaich/Codestreet_2026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Routine servicing is slow, costly, and repetitive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311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4884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Fee reversals, limit increases, and replacement cards are the highest-frequency requests —</a:t>
            </a:r>
            <a:r>
              <a:rPr sz="1700" b="0">
                <a:solidFill>
                  <a:srgbClr val="5B6673"/>
                </a:solidFill>
                <a:latin typeface="Calibri"/>
              </a:rPr>
              <a:t>  and the most tedious to service.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92608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Members wait on hold, repeat themselves, and get transferred between agents.</a:t>
            </a:r>
            <a:r>
              <a:rPr sz="1700" b="0">
                <a:solidFill>
                  <a:srgbClr val="5B6673"/>
                </a:solidFill>
                <a:latin typeface="Calibri"/>
              </a:rPr>
              <a:t>  Every touch adds compliance overhead.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85615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70332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Skilled human agents spend their time on routine work</a:t>
            </a:r>
            <a:r>
              <a:rPr sz="1700" b="0">
                <a:solidFill>
                  <a:srgbClr val="5B6673"/>
                </a:solidFill>
                <a:latin typeface="Calibri"/>
              </a:rPr>
              <a:t>  instead of the complex cases that actually need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10515600" cy="1005840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029200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C0362C"/>
                </a:solidFill>
                <a:latin typeface="Calibri"/>
              </a:rPr>
              <a:t>~$13.50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cost per human-assisted contact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5029200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59669"/>
                </a:solidFill>
                <a:latin typeface="Calibri"/>
              </a:rPr>
              <a:t>~$1.84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cost per self-service contact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138928"/>
            <a:ext cx="3840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The opportunity: </a:t>
            </a:r>
            <a:r>
              <a:rPr sz="1400" b="0">
                <a:solidFill>
                  <a:srgbClr val="5B6673"/>
                </a:solidFill>
                <a:latin typeface="Calibri"/>
              </a:rPr>
              <a:t>resolve the routine autonomously — safely — and free humans for the hard cases.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An agent that resolves the request — not just talks about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606040"/>
            <a:ext cx="502920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Resolves end-to-end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Executes the actual fee waiver, limit change, or card order — start to finish, in one interaction.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2606040"/>
            <a:ext cx="502920" cy="109728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Provably auditable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Every decision &amp; action is written to a hash-chained, tamper-evident audit trail — immutable by construction.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66760" y="2606040"/>
            <a:ext cx="502920" cy="109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Escalates gracefully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When policy limits or low confidence are hit, hands off to a human with full context — no repeating.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Single interaction.  </a:t>
            </a:r>
            <a:r>
              <a:rPr sz="1800" b="1">
                <a:solidFill>
                  <a:srgbClr val="016FD0"/>
                </a:solidFill>
                <a:latin typeface="Calibri"/>
              </a:rPr>
              <a:t>Real actions.  </a:t>
            </a:r>
            <a:r>
              <a:rPr sz="1800" b="1">
                <a:solidFill>
                  <a:srgbClr val="0F172A"/>
                </a:solidFill>
                <a:latin typeface="Calibri"/>
              </a:rPr>
              <a:t>Complete traceability.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16FD0"/>
                </a:solidFill>
                <a:latin typeface="Calibri"/>
              </a:rPr>
              <a:t>Plus  </a:t>
            </a:r>
            <a:r>
              <a:rPr sz="1250" b="0">
                <a:solidFill>
                  <a:srgbClr val="5B6673"/>
                </a:solidFill>
                <a:latin typeface="Calibri"/>
              </a:rPr>
              <a:t>multi-turn follow-ups (slot-filling) · voice input · safe out-of-scope handling (answer / escalate / clarify)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One console — chat, durable cases &amp; the audit trail</a:t>
            </a:r>
          </a:p>
        </p:txBody>
      </p:sp>
      <p:pic>
        <p:nvPicPr>
          <p:cNvPr id="6" name="Picture 5" descr="ui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19"/>
            <a:ext cx="6858000" cy="428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75320" y="19659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2663"/>
                </a:solidFill>
                <a:latin typeface="Calibri"/>
              </a:rPr>
              <a:t>What you’re seeing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2432304"/>
            <a:ext cx="109728" cy="109728"/>
          </a:xfrm>
          <a:prstGeom prst="roundRect">
            <a:avLst/>
          </a:prstGeom>
          <a:solidFill>
            <a:srgbClr val="002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2395728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F172A"/>
                </a:solidFill>
                <a:latin typeface="Calibri"/>
              </a:rPr>
              <a:t>Visible decision pipeline per reply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classified → verified → rule → executed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1455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310896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F172A"/>
                </a:solidFill>
                <a:latin typeface="Calibri"/>
              </a:rPr>
              <a:t>Policy citation in every reply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“auto-approved under FEE-AUTO v1.2”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3858768"/>
            <a:ext cx="109728" cy="109728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822192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F172A"/>
                </a:solidFill>
                <a:latin typeface="Calibri"/>
              </a:rPr>
              <a:t>Counterfactual on escalation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“I can auto-approve up to $13,000 now”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4572000"/>
            <a:ext cx="109728" cy="109728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4535424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F172A"/>
                </a:solidFill>
                <a:latin typeface="Calibri"/>
              </a:rPr>
              <a:t>Escalation with full handoff context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the specialist gets everything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5285232"/>
            <a:ext cx="109728" cy="109728"/>
          </a:xfrm>
          <a:prstGeom prst="roundRect">
            <a:avLst/>
          </a:prstGeom>
          <a:solidFill>
            <a:srgbClr val="6D4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5248656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F172A"/>
                </a:solidFill>
                <a:latin typeface="Calibri"/>
              </a:rPr>
              <a:t>Durable cases + live audit / graph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one screen, in real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60350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Live capture of the running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HOW A REQUEST IS DECIDED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The LLM proposes — a versioned engine decides and cites the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46888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5B66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Request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2468880"/>
            <a:ext cx="18288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Classifier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307238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LLM proposes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2468880"/>
            <a:ext cx="22860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Policy-as-Code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307238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decides · cites rule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246888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307238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risk-based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29800" y="2468880"/>
            <a:ext cx="15087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Execute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37744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466344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40664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941832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8503920" y="3337560"/>
            <a:ext cx="256032" cy="411480"/>
          </a:xfrm>
          <a:prstGeom prst="downArrow">
            <a:avLst/>
          </a:prstGeom>
          <a:solidFill>
            <a:srgbClr val="C03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18120" y="3840480"/>
            <a:ext cx="352044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C03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Escalate — with counterfactual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3913632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C0362C"/>
                </a:solidFill>
                <a:latin typeface="Calibri"/>
              </a:rPr>
              <a:t>over cap · low confidence · verifier disagrees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00600"/>
            <a:ext cx="1051560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91032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16FD0"/>
                </a:solidFill>
                <a:latin typeface="Calibri"/>
              </a:rPr>
              <a:t>⛓  Hash-chained audit trail   </a:t>
            </a:r>
            <a:r>
              <a:rPr sz="1250" b="0">
                <a:solidFill>
                  <a:srgbClr val="5B6673"/>
                </a:solidFill>
                <a:latin typeface="Calibri"/>
              </a:rPr>
              <a:t>— every decision sealed in order, tagged with the rule that fired (e.g. LIMIT-CAP v1.1)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The model never has authority over money — a deterministic, versioned rule engine decides and cites the exact rule; a second agent verifies before anything executes.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DIFFERENTIATOR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A verifiable, tamper-evident audit trail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85415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03120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Every decision, policy check &amp; backend call is hash-chained (SHA-256)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each entry seals the one before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35223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852927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Edit any past entry and every downstream hash breaks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caught live in the demo (verify flips to ‘broken @ seq N’).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85031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602735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Complete chain-of-custody, not sampling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the difference between ‘we think’ and ‘we can prove’.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434840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352544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Persisted to Neo4j — explorable as an analyst graph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query the whole chain of custody, not scroll a log.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184648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5102352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Maps to model-risk (SR 11-7) &amp; adverse-action explainability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audit-ready by design.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2103120"/>
            <a:ext cx="3749039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i_graph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4112" y="2231136"/>
            <a:ext cx="3520440" cy="33850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635240" y="5888736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Live Neo4j graph — the sequence spine, rules linked APPLIED_RULE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4FC4"/>
                </a:solidFill>
                <a:latin typeface="Calibri"/>
              </a:rPr>
              <a:t>DIFFERENTIATOR 2 · BEYOND THE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Servicing cases that can’t be left half-done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311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48840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Every high-stakes request becomes a durable Temporal workflow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it survives crashes and resumes exactly where it stopped.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72384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990088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Saga with automatic compensation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if a step fails, completed steps roll back in reverse. Never partial.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13632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31336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Durable human-in-the-loop approval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over-policy cases wait on an underwriter for as long as it takes.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54880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672584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Live status + replayable event history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queryable in real time; the log is itself an audit.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2194560"/>
            <a:ext cx="3291840" cy="342900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23774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4FC4"/>
                </a:solidFill>
                <a:latin typeface="Calibri"/>
              </a:rPr>
              <a:t>Card replacement saga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8346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Calibri"/>
              </a:rPr>
              <a:t>✓ block old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2918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Calibri"/>
              </a:rPr>
              <a:t>✓ charge fee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3749039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C0362C"/>
                </a:solidFill>
                <a:latin typeface="Calibri"/>
              </a:rPr>
              <a:t>✗ order fulfillment — fails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2062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Calibri"/>
              </a:rPr>
              <a:t>↩ refund fee (compensate)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46634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Calibri"/>
              </a:rPr>
              <a:t>↩ unblock card (compensate)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51206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16FD0"/>
                </a:solidFill>
                <a:latin typeface="Calibri"/>
              </a:rPr>
              <a:t>= rolled back · consistent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2663"/>
                </a:solidFill>
                <a:latin typeface="Calibri"/>
              </a:rPr>
              <a:t>DIFFERENTIATOR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Trustworthy by construction — the LLM never decides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04872"/>
            <a:ext cx="457200" cy="100584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Policy-as-Code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Versioned declarative rules decide; the LLM only proposes. Every decision cites the exact rule + version (e.g. LIMIT-CAP v1.1). Change policy = edit data + bump a version, no agent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14884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46520" y="2404872"/>
            <a:ext cx="457200" cy="100584"/>
          </a:xfrm>
          <a:prstGeom prst="rect">
            <a:avLst/>
          </a:prstGeom>
          <a:solidFill>
            <a:srgbClr val="6D4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606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Self-verifying agentic 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6324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A second reviewer LLM must agree the interpretation matches the request before acting — a bounded propose → verify → revise loop that escalates if the agents can't agree. Risk-based, so it's spent where it matters.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1480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4370832"/>
            <a:ext cx="457200" cy="1005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572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Counterfactual answers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2920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On a denial we compute the nearest-approvable outcome ('I can do $15,600 now'), mapping to ECOA/CFPB adverse-action 'specific reasons'.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11480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4370832"/>
            <a:ext cx="457200" cy="10058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572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Decision provenance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02920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Rules become nodes in Neo4j — analysts query which rule approved or denied across members, not just scroll a log.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03504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02663"/>
                </a:solidFill>
                <a:latin typeface="Calibri"/>
              </a:rPr>
              <a:t>In our research we found no prior example — hackathon or production — of rule citations in customer replies, or counterfactual offers in a servicing conversation.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Measured, not asserted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solidFill>
            <a:srgbClr val="002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How it’s graded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606040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249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Intent classification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706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Calibri"/>
              </a:rPr>
              <a:t>90%  (n=20)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706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labeled eval set · LLM target ≥95%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118104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First-contact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2186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Calibri"/>
              </a:rPr>
              <a:t>80%  (12/15)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2186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multi-turn outcome check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30168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7490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Correct handling (resolve / safe-escalate)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73075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Calibri"/>
              </a:rPr>
              <a:t>86.7%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73075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outcome check, in-scope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142232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2611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Escalation handoff completeness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24281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Calibri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24281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summary + reason + context present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654296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7731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Policy violations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47548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47548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engine caps enforced + verified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166360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2852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Audit integrity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526694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100% intact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526694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hash-chain verification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843016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F172A"/>
                </a:solidFill>
                <a:latin typeface="Calibri"/>
              </a:rPr>
              <a:t>We report TRUE resolution + handoff quality — not just deflection </a:t>
            </a:r>
            <a:r>
              <a:rPr sz="1250" b="0">
                <a:solidFill>
                  <a:srgbClr val="5B6673"/>
                </a:solidFill>
                <a:latin typeface="Calibri"/>
              </a:rPr>
              <a:t>(financial-services deflection is realistically 25–45%; one wrong answer is a compliance event, so the target error rate is &lt;1%).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WHY AMEX ·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The governance layer that makes autonomy deployable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025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92024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Amex’s 2026 direction is agentic commerce — agents that decide and act</a:t>
            </a:r>
            <a:r>
              <a:rPr sz="1400" b="0">
                <a:solidFill>
                  <a:srgbClr val="5B6673"/>
                </a:solidFill>
                <a:latin typeface="Calibri"/>
              </a:rPr>
              <a:t>  — this is exactly that, applied to servicing.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73405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6517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No deployed bank assistant performs autonomous write-actions on accounts today</a:t>
            </a:r>
            <a:r>
              <a:rPr sz="1400" b="0">
                <a:solidFill>
                  <a:srgbClr val="5B6673"/>
                </a:solidFill>
                <a:latin typeface="Calibri"/>
              </a:rPr>
              <a:t>  — Erica uses curated responses; Wells Fargo’s LLM only parses intent; Capital One kept its agent off bank accounts. We show how to do it safely.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38328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Only 21% of enterprises have mature agentic-AI governance, yet 74% expect to use AI agents by 2027</a:t>
            </a:r>
            <a:r>
              <a:rPr sz="1400" b="0">
                <a:solidFill>
                  <a:srgbClr val="5B6673"/>
                </a:solidFill>
                <a:latin typeface="Calibri"/>
              </a:rPr>
              <a:t>  (Deloitte) — most are scaling agents without the guardrails.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9709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114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Deloitte names the missing controls: audit trails of every agent action + human-approval boundaries</a:t>
            </a:r>
            <a:r>
              <a:rPr sz="1400" b="0">
                <a:solidFill>
                  <a:srgbClr val="5B6673"/>
                </a:solidFill>
                <a:latin typeface="Calibri"/>
              </a:rPr>
              <a:t>  — the exact two things we built.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892040"/>
            <a:ext cx="10515600" cy="84124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0292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0F172A"/>
                </a:solidFill>
                <a:latin typeface="Calibri"/>
              </a:rPr>
              <a:t>“With every use case, we’ve ensured there is human oversight.”</a:t>
            </a:r>
            <a:r>
              <a:rPr sz="1200" b="0">
                <a:solidFill>
                  <a:srgbClr val="5B6673"/>
                </a:solidFill>
                <a:latin typeface="Calibri"/>
              </a:rPr>
              <a:t>   — Ravi Radhakrishnan, EVP &amp; CIO, American Express (Forbes,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016FD0"/>
                </a:solidFill>
                <a:latin typeface="Calibri"/>
              </a:rPr>
              <a:t>Sources:  </a:t>
            </a:r>
            <a:r>
              <a:rPr sz="950" b="0">
                <a:solidFill>
                  <a:srgbClr val="5B6673"/>
                </a:solidFill>
                <a:latin typeface="Calibri"/>
              </a:rPr>
              <a:t>Deloitte, “Agentic AI is scaling faster than guardrails” (2025) · Forbes/Peter High (May 2025) · American Banker (Erica) · VentureBeat (Fargo) · The Financial Brand (Capital One)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Built to be real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20116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Next.js UI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24871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2331720"/>
            <a:ext cx="18288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FastAPI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394960" y="24871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0" y="2331720"/>
            <a:ext cx="53949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LangGraph agent: classifier · policy · flows ·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520440"/>
            <a:ext cx="237744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Temporal server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91840" y="3675887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0480" y="352044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Worker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486400" y="3675887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0" y="3520440"/>
            <a:ext cx="530352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ServicingCaseWorkflow → saga · compensation · approval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160520"/>
            <a:ext cx="31089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Audit chain → /graph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23360" y="43159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0" y="4160520"/>
            <a:ext cx="27432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Neo4j Aura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406640" y="43159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55279" y="4160520"/>
            <a:ext cx="33832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Cytoscape analyst graph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92040"/>
            <a:ext cx="10515600" cy="868680"/>
          </a:xfrm>
          <a:prstGeom prst="round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010912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Stack   </a:t>
            </a:r>
            <a:r>
              <a:rPr sz="1250" b="0">
                <a:solidFill>
                  <a:srgbClr val="0F172A"/>
                </a:solidFill>
                <a:latin typeface="Calibri"/>
              </a:rPr>
              <a:t>Python · FastAPI · LangGraph · Gemini · Temporal · Neo4j · Next.js · Cytoscape · SHA-256 hash-chain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230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Core-banking is mocked today; each call swaps to a real Amex API with no change to the agent logic.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Low-level design — how a durable case executes</a:t>
            </a:r>
          </a:p>
        </p:txBody>
      </p:sp>
      <p:pic>
        <p:nvPicPr>
          <p:cNvPr id="6" name="Picture 5" descr="durable_cas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6537960" cy="429069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43800" y="1965960"/>
            <a:ext cx="3840480" cy="1965960"/>
          </a:xfrm>
          <a:prstGeom prst="roundRect">
            <a:avLst/>
          </a:prstGeom>
          <a:solidFill>
            <a:srgbClr val="E9F0F9"/>
          </a:solidFill>
          <a:ln w="1270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084831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Components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395728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FastAPI  </a:t>
            </a:r>
            <a:r>
              <a:rPr sz="1000" b="0">
                <a:solidFill>
                  <a:srgbClr val="5B6673"/>
                </a:solidFill>
                <a:latin typeface="Calibri"/>
              </a:rPr>
              <a:t>owns card state + audit 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743200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LangGraph  </a:t>
            </a:r>
            <a:r>
              <a:rPr sz="1000" b="0">
                <a:solidFill>
                  <a:srgbClr val="5B6673"/>
                </a:solidFill>
                <a:latin typeface="Calibri"/>
              </a:rPr>
              <a:t>classify · policy · flows · assist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090672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Temporal worker  </a:t>
            </a:r>
            <a:r>
              <a:rPr sz="1000" b="0">
                <a:solidFill>
                  <a:srgbClr val="5B6673"/>
                </a:solidFill>
                <a:latin typeface="Calibri"/>
              </a:rPr>
              <a:t>durable saga + compensation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438144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Neo4j Aura  </a:t>
            </a:r>
            <a:r>
              <a:rPr sz="1000" b="0">
                <a:solidFill>
                  <a:srgbClr val="5B6673"/>
                </a:solidFill>
                <a:latin typeface="Calibri"/>
              </a:rPr>
              <a:t>audit graph for analysts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4114800"/>
            <a:ext cx="3840480" cy="2176272"/>
          </a:xfrm>
          <a:prstGeom prst="roundRect">
            <a:avLst/>
          </a:prstGeom>
          <a:solidFill>
            <a:srgbClr val="E9F0F9"/>
          </a:solidFill>
          <a:ln w="1270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422452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Audit entry (hash-chained)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51713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{ seq, actor, action,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  payload, prev_hash, hash 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513892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Key APIs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5431536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/chat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5646420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/cases/start · /decision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5861304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/internal/action/{action}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076188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GET  /cases · /graph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WHAT’S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From prototype to production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7685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94560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Round 2: integrate real servicing APIs, add voice, expand intents,</a:t>
            </a:r>
            <a:r>
              <a:rPr sz="1650" b="0">
                <a:solidFill>
                  <a:srgbClr val="5B6673"/>
                </a:solidFill>
                <a:latin typeface="Calibri"/>
              </a:rPr>
              <a:t>  and add an LLM-judge clarity eval.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18103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3035808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Production audit store: append-only, write-once storage behind the same hash-chain</a:t>
            </a:r>
            <a:r>
              <a:rPr sz="1650" b="0">
                <a:solidFill>
                  <a:srgbClr val="5B6673"/>
                </a:solidFill>
                <a:latin typeface="Calibri"/>
              </a:rPr>
              <a:t>  — exportable for auditors.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59352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77056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Guardrails &amp; governance: per-action risk tiers, kill-switch, policy versioning</a:t>
            </a:r>
            <a:r>
              <a:rPr sz="1650" b="0">
                <a:solidFill>
                  <a:srgbClr val="5B6673"/>
                </a:solidFill>
                <a:latin typeface="Calibri"/>
              </a:rPr>
              <a:t>  — the governance substrate for Amex agents.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029200"/>
            <a:ext cx="10515600" cy="960120"/>
          </a:xfrm>
          <a:prstGeom prst="roundRect">
            <a:avLst/>
          </a:prstGeom>
          <a:solidFill>
            <a:srgbClr val="002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23036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The ask:  </a:t>
            </a:r>
            <a:r>
              <a:rPr sz="1700" b="0">
                <a:solidFill>
                  <a:srgbClr val="FFFFFF"/>
                </a:solidFill>
                <a:latin typeface="Calibri"/>
              </a:rPr>
              <a:t>advance us to the prototype round — the core already works end-to-end.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