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8BF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5F7F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93A0B4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F5F7F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93A0B4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F5F7F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93A0B4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3A0B4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F5F7F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3A0B4"/>
                </a:solidFill>
                <a:latin typeface="Calibri"/>
              </a:rPr>
              <a:t>Team:  </a:t>
            </a:r>
            <a:r>
              <a:rPr sz="1400" b="1">
                <a:solidFill>
                  <a:srgbClr val="F5F7F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93A0B4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F5F7FA"/>
                </a:solidFill>
                <a:latin typeface="Calibri"/>
              </a:rPr>
              <a:t>&lt;names&gt;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5F7F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93A0B4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5F7F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93A0B4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5F7F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93A0B4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26D6D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0B4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FD08A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3A0B4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5F7F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93A0B4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141C30"/>
          </a:solidFill>
          <a:ln w="19050">
            <a:solidFill>
              <a:srgbClr val="3F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3FD0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3A0B4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141C30"/>
          </a:solidFill>
          <a:ln w="19050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3A0B4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141C30"/>
          </a:solidFill>
          <a:ln w="19050">
            <a:solidFill>
              <a:srgbClr val="F2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F2B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3A0B4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2E8BF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F5F7F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One request → classify → policy → act — every step logged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18288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93A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Member request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43200" y="280720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2651760"/>
            <a:ext cx="214884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Intent classifier
(confidence)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32120" y="280720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80760" y="2651760"/>
            <a:ext cx="18288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F2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Policy gate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001000" y="280720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49640" y="2651760"/>
            <a:ext cx="27432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3F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Resolve &amp; execute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703320"/>
            <a:ext cx="27432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Escalate w/ full context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6720840" y="3218688"/>
            <a:ext cx="256032" cy="457200"/>
          </a:xfrm>
          <a:prstGeom prst="downArrow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749039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6D6D"/>
                </a:solidFill>
                <a:latin typeface="Calibri"/>
              </a:rPr>
              <a:t>over cap /
low confidence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617720"/>
            <a:ext cx="10469880" cy="685800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73659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8BF0"/>
                </a:solidFill>
                <a:latin typeface="Calibri"/>
              </a:rPr>
              <a:t>⛓  Hash-chained audit trail  </a:t>
            </a:r>
            <a:r>
              <a:rPr sz="1300" b="0">
                <a:solidFill>
                  <a:srgbClr val="93A0B4"/>
                </a:solidFill>
                <a:latin typeface="Calibri"/>
              </a:rPr>
              <a:t>— classifier · policy · backend · agent : every decision sealed in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Confidence below threshold, or an amount over policy caps, routes to a human instead of a guess.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Tamper-evident audit trail — trust by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Every decision, policy check &amp; backend call is hash-chained (SHA-256)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Edit any past entry and every downstream hash breaks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we catch it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Complete chain-of-custody, not sampling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00600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71830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Maps to model-risk (SR 11-7) &amp; adverse-action explainability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286000"/>
            <a:ext cx="3291840" cy="65836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3774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#0 request</a:t>
            </a:r>
            <a:r>
              <a:rPr sz="1000" b="0">
                <a:solidFill>
                  <a:srgbClr val="93A0B4"/>
                </a:solidFill>
                <a:latin typeface="Calibri"/>
              </a:rPr>
              <a:t>   hash◄prev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144000" y="2944368"/>
            <a:ext cx="182880" cy="201168"/>
          </a:xfrm>
          <a:prstGeom prst="down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3154680"/>
            <a:ext cx="3291840" cy="65836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F2B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3246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#1 policy</a:t>
            </a:r>
            <a:r>
              <a:rPr sz="1000" b="0">
                <a:solidFill>
                  <a:srgbClr val="93A0B4"/>
                </a:solidFill>
                <a:latin typeface="Calibri"/>
              </a:rPr>
              <a:t>   hash◄prev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144000" y="3813048"/>
            <a:ext cx="182880" cy="201168"/>
          </a:xfrm>
          <a:prstGeom prst="down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80960" y="4023360"/>
            <a:ext cx="3291840" cy="65836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3FD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4114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#2 backend</a:t>
            </a:r>
            <a:r>
              <a:rPr sz="1000" b="0">
                <a:solidFill>
                  <a:srgbClr val="93A0B4"/>
                </a:solidFill>
                <a:latin typeface="Calibri"/>
              </a:rPr>
              <a:t>   hash◄prev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144000" y="4681728"/>
            <a:ext cx="182880" cy="201168"/>
          </a:xfrm>
          <a:prstGeom prst="down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80960" y="4892040"/>
            <a:ext cx="3291840" cy="65836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498347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#3 agent</a:t>
            </a:r>
            <a:r>
              <a:rPr sz="1000" b="0">
                <a:solidFill>
                  <a:srgbClr val="93A0B4"/>
                </a:solidFill>
                <a:latin typeface="Calibri"/>
              </a:rPr>
              <a:t>   hash◄prev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6D6D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A guardian agent that acts while you sleep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A durable Temporal workflow continuously watches for unusual activity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the agent is idle until something happens.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On an anomaly (e.g. high-value card-not-present charge) it acts autonomously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freezes the card, alerts the member, logs everything.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Oversight at scale: humans handle exceptions, not every step</a:t>
            </a:r>
            <a:r>
              <a:rPr sz="1550" b="0">
                <a:solidFill>
                  <a:srgbClr val="93A0B4"/>
                </a:solidFill>
                <a:latin typeface="Calibri"/>
              </a:rPr>
              <a:t>  — the resolution to the bank’s autonomy dilemma.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00600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71830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5F7FA"/>
                </a:solidFill>
                <a:latin typeface="Calibri"/>
              </a:rPr>
              <a:t>Temporal’s durable event history is itself proof</a:t>
            </a:r>
            <a:r>
              <a:rPr sz="1550" b="0">
                <a:solidFill>
                  <a:srgbClr val="93A0B4"/>
                </a:solidFill>
                <a:latin typeface="Calibri"/>
              </a:rPr>
              <a:t>  of when the agent woke and what it did.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286000"/>
            <a:ext cx="3291840" cy="3246120"/>
          </a:xfrm>
          <a:prstGeom prst="roundRect">
            <a:avLst/>
          </a:prstGeom>
          <a:solidFill>
            <a:srgbClr val="141C30"/>
          </a:solidFill>
          <a:ln w="19050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46888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6D6D"/>
                </a:solidFill>
                <a:latin typeface="Calibri"/>
              </a:rPr>
              <a:t>Autonomous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92608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3A0B4"/>
                </a:solidFill>
                <a:latin typeface="Calibri"/>
              </a:rPr>
              <a:t>⚡ $4,999 charge · Lagos (CNP)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42900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6D6D"/>
                </a:solidFill>
                <a:latin typeface="Calibri"/>
              </a:rPr>
              <a:t>🛡️ anomaly_detected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9319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B04B"/>
                </a:solidFill>
                <a:latin typeface="Calibri"/>
              </a:rPr>
              <a:t>🔒 auto_freeze_card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434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FD08A"/>
                </a:solidFill>
                <a:latin typeface="Calibri"/>
              </a:rPr>
              <a:t>🔔 alert_raised → member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9377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⛓ written to audit 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6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3FD08A"/>
                </a:solidFill>
                <a:latin typeface="Calibri"/>
              </a:rPr>
              <a:t>90% baseline → 95%+ w/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labeled eval set (deterministic)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72968"/>
            <a:ext cx="10515600" cy="566928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First-contact resolution (in-scope)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3FD08A"/>
                </a:solidFill>
                <a:latin typeface="Calibri"/>
              </a:rPr>
              <a:t>measured per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outcome check (deterministic)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739896"/>
            <a:ext cx="10515600" cy="566928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Policy violations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E8BF0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never auto-approve over cap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306824"/>
            <a:ext cx="10515600" cy="566928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4256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Audit completeness &amp; integrity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E8BF0"/>
                </a:solidFill>
                <a:latin typeface="Calibr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chain verification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73752"/>
            <a:ext cx="10515600" cy="566928"/>
          </a:xfrm>
          <a:prstGeom prst="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926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F7FA"/>
                </a:solidFill>
                <a:latin typeface="Calibri"/>
              </a:rPr>
              <a:t>Response clarity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93A0B4"/>
                </a:solidFill>
                <a:latin typeface="Calibri"/>
              </a:rPr>
              <a:t>LLM-judge rubric (1–5)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planned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F7FA"/>
                </a:solidFill>
                <a:latin typeface="Calibri"/>
              </a:rPr>
              <a:t>We report TRUE resolution + escalation rate — not just deflection. </a:t>
            </a:r>
            <a:r>
              <a:rPr sz="1300" b="0">
                <a:solidFill>
                  <a:srgbClr val="93A0B4"/>
                </a:solidFill>
                <a:latin typeface="Calibri"/>
              </a:rPr>
              <a:t>Financial-services deflection is realistically 25–45%; finance teams target &lt;1% error, because one wrong answer is a compliance event.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5F7FA"/>
                </a:solidFill>
                <a:latin typeface="Calibri"/>
              </a:rPr>
              <a:t>Amex’s 2026 direction is agentic commerce — agents that decide and act.</a:t>
            </a:r>
            <a:r>
              <a:rPr sz="1650" b="0">
                <a:solidFill>
                  <a:srgbClr val="93A0B4"/>
                </a:solidFill>
                <a:latin typeface="Calibri"/>
              </a:rPr>
              <a:t> 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5F7FA"/>
                </a:solidFill>
                <a:latin typeface="Calibri"/>
              </a:rPr>
              <a:t>~80% of financial institutions lack mature agentic-AI governance,</a:t>
            </a:r>
            <a:r>
              <a:rPr sz="1650" b="0">
                <a:solidFill>
                  <a:srgbClr val="93A0B4"/>
                </a:solidFill>
                <a:latin typeface="Calibri"/>
              </a:rPr>
              <a:t>  yet most expect heavy agent use by 2027 (Deloitte).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5F7FA"/>
                </a:solidFill>
                <a:latin typeface="Calibri"/>
              </a:rPr>
              <a:t>Our audit trail + guardian monitor are the prerequisites for safe autonomy —</a:t>
            </a:r>
            <a:r>
              <a:rPr sz="1650" b="0">
                <a:solidFill>
                  <a:srgbClr val="93A0B4"/>
                </a:solidFill>
                <a:latin typeface="Calibri"/>
              </a:rPr>
              <a:t>  ‘human oversight’ and ‘responsible use’ built in, not bolted 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19379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F7FA"/>
                </a:solidFill>
                <a:latin typeface="Calibri"/>
              </a:rPr>
              <a:t>“With every use case, we’ve ensured there is human oversight.”</a:t>
            </a:r>
            <a:r>
              <a:rPr sz="1300" b="0">
                <a:solidFill>
                  <a:srgbClr val="93A0B4"/>
                </a:solidFill>
                <a:latin typeface="Calibri"/>
              </a:rPr>
              <a:t>   — Amex CIO, on responsible AI. We make that oversight provable and scalable.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2E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A68B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65176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Temporal dev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66160" y="3675887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14800" y="3520440"/>
            <a:ext cx="173736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3675887"/>
            <a:ext cx="457200" cy="256032"/>
          </a:xfrm>
          <a:prstGeom prst="rightArrow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3520440"/>
            <a:ext cx="4846320" cy="566928"/>
          </a:xfrm>
          <a:prstGeom prst="roundRect">
            <a:avLst/>
          </a:prstGeom>
          <a:solidFill>
            <a:srgbClr val="141C30"/>
          </a:solidFill>
          <a:ln w="1587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F7FA"/>
                </a:solidFill>
                <a:latin typeface="Calibri"/>
              </a:rPr>
              <a:t>Monitor workflow → /monitor/tick (detect · freeze · alert)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663440"/>
            <a:ext cx="10515600" cy="914400"/>
          </a:xfrm>
          <a:prstGeom prst="roundRect">
            <a:avLst/>
          </a:prstGeom>
          <a:solidFill>
            <a:srgbClr val="14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8006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8BF0"/>
                </a:solidFill>
                <a:latin typeface="Calibri"/>
              </a:rPr>
              <a:t>Stack   </a:t>
            </a:r>
            <a:r>
              <a:rPr sz="1350" b="0">
                <a:solidFill>
                  <a:srgbClr val="F5F7FA"/>
                </a:solidFill>
                <a:latin typeface="Calibri"/>
              </a:rPr>
              <a:t>Python · FastAPI · LangChain/LangGraph · Gemini (model-agnostic) · Temporal · Next.js · SHA-256 hash-chain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3A0B4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F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5F7F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5F7F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93A0B4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5F7F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93A0B4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2E8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5F7F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93A0B4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6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5F7FA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5F7FA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3A0B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